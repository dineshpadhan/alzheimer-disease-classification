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7" r:id="rId3"/>
    <p:sldId id="258" r:id="rId4"/>
    <p:sldId id="260" r:id="rId5"/>
    <p:sldId id="259" r:id="rId6"/>
    <p:sldId id="261" r:id="rId7"/>
    <p:sldId id="262" r:id="rId8"/>
    <p:sldId id="264" r:id="rId9"/>
    <p:sldId id="265" r:id="rId10"/>
    <p:sldId id="266" r:id="rId11"/>
    <p:sldId id="268" r:id="rId12"/>
    <p:sldId id="269" r:id="rId13"/>
    <p:sldId id="270" r:id="rId14"/>
    <p:sldId id="271" r:id="rId15"/>
    <p:sldId id="272"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75569"/>
    <a:srgbClr val="0EA5A4"/>
    <a:srgbClr val="E0F2FE"/>
    <a:srgbClr val="F8FAFC"/>
    <a:srgbClr val="0F172A"/>
    <a:srgbClr val="14532D"/>
    <a:srgbClr val="22C55E"/>
    <a:srgbClr val="DCFCE7"/>
    <a:srgbClr val="E2E8F0"/>
    <a:srgbClr val="40AEE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6408" autoAdjust="0"/>
  </p:normalViewPr>
  <p:slideViewPr>
    <p:cSldViewPr snapToGrid="0">
      <p:cViewPr>
        <p:scale>
          <a:sx n="66" d="100"/>
          <a:sy n="66" d="100"/>
        </p:scale>
        <p:origin x="1253" y="2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978B48-BACB-4BC7-AEB2-BDF2B25DAC34}" type="datetimeFigureOut">
              <a:rPr lang="en-IN" smtClean="0"/>
              <a:t>29-12-2025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B1FB6B-C8D6-4426-8A71-B6F882E166C6}" type="slidenum">
              <a:rPr lang="en-IN" smtClean="0"/>
              <a:t>‹#›</a:t>
            </a:fld>
            <a:endParaRPr lang="en-IN"/>
          </a:p>
        </p:txBody>
      </p:sp>
    </p:spTree>
    <p:extLst>
      <p:ext uri="{BB962C8B-B14F-4D97-AF65-F5344CB8AC3E}">
        <p14:creationId xmlns:p14="http://schemas.microsoft.com/office/powerpoint/2010/main" val="3215241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Our project is titled </a:t>
            </a:r>
            <a:r>
              <a:rPr lang="en-US" i="1" dirty="0"/>
              <a:t>Alzheimer’s Disease Classification using Machine Learning</a:t>
            </a:r>
            <a:r>
              <a:rPr lang="en-US" dirty="0"/>
              <a:t>. The focus of this work is to apply a structured machine learning pipeline on healthcare data and evaluate multiple models objectively to identify the most suitable classifier.</a:t>
            </a:r>
            <a:endParaRPr lang="en-IN" dirty="0"/>
          </a:p>
        </p:txBody>
      </p:sp>
      <p:sp>
        <p:nvSpPr>
          <p:cNvPr id="4" name="Slide Number Placeholder 3"/>
          <p:cNvSpPr>
            <a:spLocks noGrp="1"/>
          </p:cNvSpPr>
          <p:nvPr>
            <p:ph type="sldNum" sz="quarter" idx="5"/>
          </p:nvPr>
        </p:nvSpPr>
        <p:spPr/>
        <p:txBody>
          <a:bodyPr/>
          <a:lstStyle/>
          <a:p>
            <a:fld id="{CCB1FB6B-C8D6-4426-8A71-B6F882E166C6}" type="slidenum">
              <a:rPr lang="en-IN" smtClean="0"/>
              <a:t>1</a:t>
            </a:fld>
            <a:endParaRPr lang="en-IN"/>
          </a:p>
        </p:txBody>
      </p:sp>
    </p:spTree>
    <p:extLst>
      <p:ext uri="{BB962C8B-B14F-4D97-AF65-F5344CB8AC3E}">
        <p14:creationId xmlns:p14="http://schemas.microsoft.com/office/powerpoint/2010/main" val="18989726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From a machine learning perspective, Alzheimer’s datasets are complex and high-dimensional. They include demographic, medical, and cognitive features. Manual analysis becomes inefficient as data grows, and identifying meaningful patterns for diagnosis is challenging. This motivates the need for automated, data-driven classification models.</a:t>
            </a:r>
            <a:endParaRPr lang="en-IN" dirty="0"/>
          </a:p>
        </p:txBody>
      </p:sp>
      <p:sp>
        <p:nvSpPr>
          <p:cNvPr id="4" name="Slide Number Placeholder 3"/>
          <p:cNvSpPr>
            <a:spLocks noGrp="1"/>
          </p:cNvSpPr>
          <p:nvPr>
            <p:ph type="sldNum" sz="quarter" idx="5"/>
          </p:nvPr>
        </p:nvSpPr>
        <p:spPr/>
        <p:txBody>
          <a:bodyPr/>
          <a:lstStyle/>
          <a:p>
            <a:fld id="{CCB1FB6B-C8D6-4426-8A71-B6F882E166C6}" type="slidenum">
              <a:rPr lang="en-IN" smtClean="0"/>
              <a:t>2</a:t>
            </a:fld>
            <a:endParaRPr lang="en-IN"/>
          </a:p>
        </p:txBody>
      </p:sp>
    </p:spTree>
    <p:extLst>
      <p:ext uri="{BB962C8B-B14F-4D97-AF65-F5344CB8AC3E}">
        <p14:creationId xmlns:p14="http://schemas.microsoft.com/office/powerpoint/2010/main" val="3636796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The primary objective of this project was to design a supervised machine learning classification system. Secondary objectives included preprocessing structured and categorical data, training multiple models, evaluating them fairly using standard metrics, and selecting the most effective model.</a:t>
            </a:r>
            <a:endParaRPr lang="en-IN" dirty="0"/>
          </a:p>
        </p:txBody>
      </p:sp>
      <p:sp>
        <p:nvSpPr>
          <p:cNvPr id="4" name="Slide Number Placeholder 3"/>
          <p:cNvSpPr>
            <a:spLocks noGrp="1"/>
          </p:cNvSpPr>
          <p:nvPr>
            <p:ph type="sldNum" sz="quarter" idx="5"/>
          </p:nvPr>
        </p:nvSpPr>
        <p:spPr/>
        <p:txBody>
          <a:bodyPr/>
          <a:lstStyle/>
          <a:p>
            <a:fld id="{CCB1FB6B-C8D6-4426-8A71-B6F882E166C6}" type="slidenum">
              <a:rPr lang="en-IN" smtClean="0"/>
              <a:t>3</a:t>
            </a:fld>
            <a:endParaRPr lang="en-IN"/>
          </a:p>
        </p:txBody>
      </p:sp>
    </p:spTree>
    <p:extLst>
      <p:ext uri="{BB962C8B-B14F-4D97-AF65-F5344CB8AC3E}">
        <p14:creationId xmlns:p14="http://schemas.microsoft.com/office/powerpoint/2010/main" val="22116144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BA296E-C864-F002-B8E8-CE2F12D1A8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711C67-A143-1ADC-3358-A5FA7E0F37A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6E6FD67C-78C7-26AA-18A5-F56DEB8615FD}"/>
              </a:ext>
            </a:extLst>
          </p:cNvPr>
          <p:cNvSpPr>
            <a:spLocks noGrp="1"/>
          </p:cNvSpPr>
          <p:nvPr>
            <p:ph type="body" idx="1"/>
          </p:nvPr>
        </p:nvSpPr>
        <p:spPr/>
        <p:txBody>
          <a:bodyPr/>
          <a:lstStyle/>
          <a:p>
            <a:pPr lvl="1"/>
            <a:r>
              <a:rPr lang="en-US" dirty="0"/>
              <a:t>The dataset consists of 2,149 patient records with ages ranging from 60 to 90 years. It includes demographic, lifestyle, medical, clinical, and cognitive features. The target variable is a binary diagnosis, which makes this a supervised classification problem.</a:t>
            </a:r>
          </a:p>
          <a:p>
            <a:pPr lvl="1"/>
            <a:endParaRPr lang="en-US" dirty="0"/>
          </a:p>
          <a:p>
            <a:pPr lvl="1"/>
            <a:r>
              <a:rPr lang="en-US" b="1" dirty="0"/>
              <a:t>Mention Features categories</a:t>
            </a:r>
            <a:endParaRPr lang="en-IN" b="1" dirty="0"/>
          </a:p>
        </p:txBody>
      </p:sp>
      <p:sp>
        <p:nvSpPr>
          <p:cNvPr id="4" name="Slide Number Placeholder 3">
            <a:extLst>
              <a:ext uri="{FF2B5EF4-FFF2-40B4-BE49-F238E27FC236}">
                <a16:creationId xmlns:a16="http://schemas.microsoft.com/office/drawing/2014/main" id="{2ECA7874-C99E-C8DB-2162-1973C0241FF9}"/>
              </a:ext>
            </a:extLst>
          </p:cNvPr>
          <p:cNvSpPr>
            <a:spLocks noGrp="1"/>
          </p:cNvSpPr>
          <p:nvPr>
            <p:ph type="sldNum" sz="quarter" idx="5"/>
          </p:nvPr>
        </p:nvSpPr>
        <p:spPr/>
        <p:txBody>
          <a:bodyPr/>
          <a:lstStyle/>
          <a:p>
            <a:fld id="{CCB1FB6B-C8D6-4426-8A71-B6F882E166C6}" type="slidenum">
              <a:rPr lang="en-IN" smtClean="0"/>
              <a:t>4</a:t>
            </a:fld>
            <a:endParaRPr lang="en-IN"/>
          </a:p>
        </p:txBody>
      </p:sp>
    </p:spTree>
    <p:extLst>
      <p:ext uri="{BB962C8B-B14F-4D97-AF65-F5344CB8AC3E}">
        <p14:creationId xmlns:p14="http://schemas.microsoft.com/office/powerpoint/2010/main" val="39343314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training models, preprocessing was performed to ensure data quality and consistency. This involved handling missing values, encoding categorical variables, scaling numerical features where required, and removing irrelevant or confidential fields. Importantly, preprocessing was done independently of any specific model to ensure fair comparison.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This is a high-scoring slide—don’t rush.</a:t>
            </a:r>
          </a:p>
          <a:p>
            <a:endParaRPr lang="en-IN" dirty="0"/>
          </a:p>
        </p:txBody>
      </p:sp>
      <p:sp>
        <p:nvSpPr>
          <p:cNvPr id="4" name="Slide Number Placeholder 3"/>
          <p:cNvSpPr>
            <a:spLocks noGrp="1"/>
          </p:cNvSpPr>
          <p:nvPr>
            <p:ph type="sldNum" sz="quarter" idx="5"/>
          </p:nvPr>
        </p:nvSpPr>
        <p:spPr/>
        <p:txBody>
          <a:bodyPr/>
          <a:lstStyle/>
          <a:p>
            <a:fld id="{CCB1FB6B-C8D6-4426-8A71-B6F882E166C6}" type="slidenum">
              <a:rPr lang="en-IN" smtClean="0"/>
              <a:t>5</a:t>
            </a:fld>
            <a:endParaRPr lang="en-IN"/>
          </a:p>
        </p:txBody>
      </p:sp>
    </p:spTree>
    <p:extLst>
      <p:ext uri="{BB962C8B-B14F-4D97-AF65-F5344CB8AC3E}">
        <p14:creationId xmlns:p14="http://schemas.microsoft.com/office/powerpoint/2010/main" val="25180873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5FA412-7966-56CF-A924-EC8208AD0E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21D580-76E6-D24C-F8CF-609E41C856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ACE4B8-3A0D-5B32-A1F6-B42FC5033F90}"/>
              </a:ext>
            </a:extLst>
          </p:cNvPr>
          <p:cNvSpPr>
            <a:spLocks noGrp="1"/>
          </p:cNvSpPr>
          <p:nvPr>
            <p:ph type="body" idx="1"/>
          </p:nvPr>
        </p:nvSpPr>
        <p:spPr/>
        <p:txBody>
          <a:bodyPr/>
          <a:lstStyle/>
          <a:p>
            <a:r>
              <a:rPr lang="en-US" dirty="0"/>
              <a:t>Exploratory Data Analysis helped us understand feature distributions, detect anomalies, and study relationships between variables. The next slides present selected EDA findings that influenced preprocessing and modeling decisions.</a:t>
            </a:r>
            <a:endParaRPr lang="en-IN" dirty="0"/>
          </a:p>
        </p:txBody>
      </p:sp>
      <p:sp>
        <p:nvSpPr>
          <p:cNvPr id="4" name="Slide Number Placeholder 3">
            <a:extLst>
              <a:ext uri="{FF2B5EF4-FFF2-40B4-BE49-F238E27FC236}">
                <a16:creationId xmlns:a16="http://schemas.microsoft.com/office/drawing/2014/main" id="{1FC8B0A9-B6AA-9ACE-0F1F-415306428480}"/>
              </a:ext>
            </a:extLst>
          </p:cNvPr>
          <p:cNvSpPr>
            <a:spLocks noGrp="1"/>
          </p:cNvSpPr>
          <p:nvPr>
            <p:ph type="sldNum" sz="quarter" idx="5"/>
          </p:nvPr>
        </p:nvSpPr>
        <p:spPr/>
        <p:txBody>
          <a:bodyPr/>
          <a:lstStyle/>
          <a:p>
            <a:fld id="{CCB1FB6B-C8D6-4426-8A71-B6F882E166C6}" type="slidenum">
              <a:rPr lang="en-IN" smtClean="0"/>
              <a:t>6</a:t>
            </a:fld>
            <a:endParaRPr lang="en-IN"/>
          </a:p>
        </p:txBody>
      </p:sp>
    </p:spTree>
    <p:extLst>
      <p:ext uri="{BB962C8B-B14F-4D97-AF65-F5344CB8AC3E}">
        <p14:creationId xmlns:p14="http://schemas.microsoft.com/office/powerpoint/2010/main" val="40747744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 is shown as a representative numerical feature. The histogram shows a well-distributed range within expected limits, and the boxplot indicates no extreme outliers. Similar distribution and outlier checks were performed for all numerical features.</a:t>
            </a:r>
            <a:endParaRPr lang="en-IN" dirty="0"/>
          </a:p>
        </p:txBody>
      </p:sp>
      <p:sp>
        <p:nvSpPr>
          <p:cNvPr id="4" name="Slide Number Placeholder 3"/>
          <p:cNvSpPr>
            <a:spLocks noGrp="1"/>
          </p:cNvSpPr>
          <p:nvPr>
            <p:ph type="sldNum" sz="quarter" idx="5"/>
          </p:nvPr>
        </p:nvSpPr>
        <p:spPr/>
        <p:txBody>
          <a:bodyPr/>
          <a:lstStyle/>
          <a:p>
            <a:fld id="{CCB1FB6B-C8D6-4426-8A71-B6F882E166C6}" type="slidenum">
              <a:rPr lang="en-IN" smtClean="0"/>
              <a:t>7</a:t>
            </a:fld>
            <a:endParaRPr lang="en-IN"/>
          </a:p>
        </p:txBody>
      </p:sp>
    </p:spTree>
    <p:extLst>
      <p:ext uri="{BB962C8B-B14F-4D97-AF65-F5344CB8AC3E}">
        <p14:creationId xmlns:p14="http://schemas.microsoft.com/office/powerpoint/2010/main" val="16020732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E6A806-68FC-37CE-68FC-B6EAB02839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5E2C4C-6043-93A2-763F-34E8C50516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8C2BC6-FC5D-0223-96FF-349C48F5CE60}"/>
              </a:ext>
            </a:extLst>
          </p:cNvPr>
          <p:cNvSpPr>
            <a:spLocks noGrp="1"/>
          </p:cNvSpPr>
          <p:nvPr>
            <p:ph type="body" idx="1"/>
          </p:nvPr>
        </p:nvSpPr>
        <p:spPr/>
        <p:txBody>
          <a:bodyPr/>
          <a:lstStyle/>
          <a:p>
            <a:r>
              <a:rPr lang="en-US" dirty="0"/>
              <a:t>This slide presents bivariate analysis, where we examine how individual features relate to the target variable. From the age distribution, we observe that patients diagnosed with Alzheimer’s tend to be slightly older. In contrast, the gender distribution appears relatively balanced across both diagnosis classes, suggesting that gender alone may have limited predictive influence. These observations help us understand feature relevance before model training.</a:t>
            </a:r>
            <a:endParaRPr lang="en-IN" dirty="0"/>
          </a:p>
        </p:txBody>
      </p:sp>
      <p:sp>
        <p:nvSpPr>
          <p:cNvPr id="4" name="Slide Number Placeholder 3">
            <a:extLst>
              <a:ext uri="{FF2B5EF4-FFF2-40B4-BE49-F238E27FC236}">
                <a16:creationId xmlns:a16="http://schemas.microsoft.com/office/drawing/2014/main" id="{7B232053-89E5-5F3A-8B10-C7B347A51E32}"/>
              </a:ext>
            </a:extLst>
          </p:cNvPr>
          <p:cNvSpPr>
            <a:spLocks noGrp="1"/>
          </p:cNvSpPr>
          <p:nvPr>
            <p:ph type="sldNum" sz="quarter" idx="5"/>
          </p:nvPr>
        </p:nvSpPr>
        <p:spPr/>
        <p:txBody>
          <a:bodyPr/>
          <a:lstStyle/>
          <a:p>
            <a:fld id="{CCB1FB6B-C8D6-4426-8A71-B6F882E166C6}" type="slidenum">
              <a:rPr lang="en-IN" smtClean="0"/>
              <a:t>8</a:t>
            </a:fld>
            <a:endParaRPr lang="en-IN"/>
          </a:p>
        </p:txBody>
      </p:sp>
    </p:spTree>
    <p:extLst>
      <p:ext uri="{BB962C8B-B14F-4D97-AF65-F5344CB8AC3E}">
        <p14:creationId xmlns:p14="http://schemas.microsoft.com/office/powerpoint/2010/main" val="13555339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B8AA3-81BB-B500-A425-B381D672DF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D98029-9B2F-E0AD-4A2F-C7D5CA058B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33B7CA-DBC1-ACF9-2CBC-DE4AD919568B}"/>
              </a:ext>
            </a:extLst>
          </p:cNvPr>
          <p:cNvSpPr>
            <a:spLocks noGrp="1"/>
          </p:cNvSpPr>
          <p:nvPr>
            <p:ph type="body" idx="1"/>
          </p:nvPr>
        </p:nvSpPr>
        <p:spPr/>
        <p:txBody>
          <a:bodyPr/>
          <a:lstStyle/>
          <a:p>
            <a:r>
              <a:rPr lang="en-US" dirty="0"/>
              <a:t>This correlation matrix helps identify relationships among features and detect multicollinearity. Most features show low to moderate correlation, indicating minimal redundancy. This supports stable and reliable model training without aggressive feature elimination.</a:t>
            </a:r>
            <a:endParaRPr lang="en-IN" dirty="0"/>
          </a:p>
        </p:txBody>
      </p:sp>
      <p:sp>
        <p:nvSpPr>
          <p:cNvPr id="4" name="Slide Number Placeholder 3">
            <a:extLst>
              <a:ext uri="{FF2B5EF4-FFF2-40B4-BE49-F238E27FC236}">
                <a16:creationId xmlns:a16="http://schemas.microsoft.com/office/drawing/2014/main" id="{8667F007-46B2-E0F0-3C6D-5152990CB5CF}"/>
              </a:ext>
            </a:extLst>
          </p:cNvPr>
          <p:cNvSpPr>
            <a:spLocks noGrp="1"/>
          </p:cNvSpPr>
          <p:nvPr>
            <p:ph type="sldNum" sz="quarter" idx="5"/>
          </p:nvPr>
        </p:nvSpPr>
        <p:spPr/>
        <p:txBody>
          <a:bodyPr/>
          <a:lstStyle/>
          <a:p>
            <a:fld id="{CCB1FB6B-C8D6-4426-8A71-B6F882E166C6}" type="slidenum">
              <a:rPr lang="en-IN" smtClean="0"/>
              <a:t>9</a:t>
            </a:fld>
            <a:endParaRPr lang="en-IN"/>
          </a:p>
        </p:txBody>
      </p:sp>
    </p:spTree>
    <p:extLst>
      <p:ext uri="{BB962C8B-B14F-4D97-AF65-F5344CB8AC3E}">
        <p14:creationId xmlns:p14="http://schemas.microsoft.com/office/powerpoint/2010/main" val="20744258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A7431-A954-172F-FFDA-D78896521B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6547EC-0A82-B377-B033-D46536B722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3FE056-219E-5001-3647-8A3B9F53340B}"/>
              </a:ext>
            </a:extLst>
          </p:cNvPr>
          <p:cNvSpPr>
            <a:spLocks noGrp="1"/>
          </p:cNvSpPr>
          <p:nvPr>
            <p:ph type="body" idx="1"/>
          </p:nvPr>
        </p:nvSpPr>
        <p:spPr/>
        <p:txBody>
          <a:bodyPr/>
          <a:lstStyle/>
          <a:p>
            <a:r>
              <a:rPr lang="en-US" dirty="0"/>
              <a:t>After completing exploratory data analysis, we moved into the model building phase. The problem was formulated as a supervised binary classification task, with Alzheimer’s diagnosis as the target variable. We used demographic, lifestyle, clinical, and cognitive features as inputs. Multiple classification algorithms were trained using the same preprocessed dataset and the same train–test split. This consistent training and evaluation setup ensures a fair comparison across all models before identifying the best-performing one.</a:t>
            </a:r>
            <a:endParaRPr lang="en-IN" dirty="0"/>
          </a:p>
        </p:txBody>
      </p:sp>
      <p:sp>
        <p:nvSpPr>
          <p:cNvPr id="4" name="Slide Number Placeholder 3">
            <a:extLst>
              <a:ext uri="{FF2B5EF4-FFF2-40B4-BE49-F238E27FC236}">
                <a16:creationId xmlns:a16="http://schemas.microsoft.com/office/drawing/2014/main" id="{2BC35FA4-B166-EDE6-BC52-73229C388F1A}"/>
              </a:ext>
            </a:extLst>
          </p:cNvPr>
          <p:cNvSpPr>
            <a:spLocks noGrp="1"/>
          </p:cNvSpPr>
          <p:nvPr>
            <p:ph type="sldNum" sz="quarter" idx="5"/>
          </p:nvPr>
        </p:nvSpPr>
        <p:spPr/>
        <p:txBody>
          <a:bodyPr/>
          <a:lstStyle/>
          <a:p>
            <a:fld id="{CCB1FB6B-C8D6-4426-8A71-B6F882E166C6}" type="slidenum">
              <a:rPr lang="en-IN" smtClean="0"/>
              <a:t>10</a:t>
            </a:fld>
            <a:endParaRPr lang="en-IN"/>
          </a:p>
        </p:txBody>
      </p:sp>
    </p:spTree>
    <p:extLst>
      <p:ext uri="{BB962C8B-B14F-4D97-AF65-F5344CB8AC3E}">
        <p14:creationId xmlns:p14="http://schemas.microsoft.com/office/powerpoint/2010/main" val="9255776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7BFE3D-8F37-6282-23D0-9E7DE034BF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1B2AB2-0865-2049-C739-F51378BB32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3F4067-C320-E932-F387-9C2B1AB9143D}"/>
              </a:ext>
            </a:extLst>
          </p:cNvPr>
          <p:cNvSpPr>
            <a:spLocks noGrp="1"/>
          </p:cNvSpPr>
          <p:nvPr>
            <p:ph type="body" idx="1"/>
          </p:nvPr>
        </p:nvSpPr>
        <p:spPr/>
        <p:txBody>
          <a:bodyPr/>
          <a:lstStyle/>
          <a:p>
            <a:r>
              <a:rPr lang="en-US" dirty="0"/>
              <a:t>To ensure a fair and comprehensive evaluation, we implemented a diverse set of machine learning models. These include baseline classifiers, tree-based models, ensemble methods, and boosting algorithms. Each model was trained using the same dataset and evaluation framework, allowing us to objectively compare their performance before selecting the best-performing approach.</a:t>
            </a:r>
            <a:endParaRPr lang="en-IN" dirty="0"/>
          </a:p>
        </p:txBody>
      </p:sp>
      <p:sp>
        <p:nvSpPr>
          <p:cNvPr id="4" name="Slide Number Placeholder 3">
            <a:extLst>
              <a:ext uri="{FF2B5EF4-FFF2-40B4-BE49-F238E27FC236}">
                <a16:creationId xmlns:a16="http://schemas.microsoft.com/office/drawing/2014/main" id="{674F397E-EC76-DAA5-3E00-7EFD8F2B28E2}"/>
              </a:ext>
            </a:extLst>
          </p:cNvPr>
          <p:cNvSpPr>
            <a:spLocks noGrp="1"/>
          </p:cNvSpPr>
          <p:nvPr>
            <p:ph type="sldNum" sz="quarter" idx="5"/>
          </p:nvPr>
        </p:nvSpPr>
        <p:spPr/>
        <p:txBody>
          <a:bodyPr/>
          <a:lstStyle/>
          <a:p>
            <a:fld id="{CCB1FB6B-C8D6-4426-8A71-B6F882E166C6}" type="slidenum">
              <a:rPr lang="en-IN" smtClean="0"/>
              <a:t>11</a:t>
            </a:fld>
            <a:endParaRPr lang="en-IN"/>
          </a:p>
        </p:txBody>
      </p:sp>
    </p:spTree>
    <p:extLst>
      <p:ext uri="{BB962C8B-B14F-4D97-AF65-F5344CB8AC3E}">
        <p14:creationId xmlns:p14="http://schemas.microsoft.com/office/powerpoint/2010/main" val="26593785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FD1E20-48E6-D52D-7ABF-1A325D79BF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671350-0240-D99F-069D-302AA3D2C7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4B59A5-01F8-5293-A34A-6CEFA93C430E}"/>
              </a:ext>
            </a:extLst>
          </p:cNvPr>
          <p:cNvSpPr>
            <a:spLocks noGrp="1"/>
          </p:cNvSpPr>
          <p:nvPr>
            <p:ph type="body" idx="1"/>
          </p:nvPr>
        </p:nvSpPr>
        <p:spPr/>
        <p:txBody>
          <a:bodyPr/>
          <a:lstStyle/>
          <a:p>
            <a:r>
              <a:rPr lang="en-US" dirty="0"/>
              <a:t>To evaluate model performance, we used multiple classification metrics instead of relying only on accuracy. Since the dataset shows moderate class imbalance, precision, recall, and F1-score provide a more reliable assessment. All models were evaluated on the same test dataset using these metrics to ensure fair comparison.</a:t>
            </a:r>
            <a:endParaRPr lang="en-IN" dirty="0"/>
          </a:p>
        </p:txBody>
      </p:sp>
      <p:sp>
        <p:nvSpPr>
          <p:cNvPr id="4" name="Slide Number Placeholder 3">
            <a:extLst>
              <a:ext uri="{FF2B5EF4-FFF2-40B4-BE49-F238E27FC236}">
                <a16:creationId xmlns:a16="http://schemas.microsoft.com/office/drawing/2014/main" id="{3E61795B-0D6E-F1DB-2953-3E820AF2164D}"/>
              </a:ext>
            </a:extLst>
          </p:cNvPr>
          <p:cNvSpPr>
            <a:spLocks noGrp="1"/>
          </p:cNvSpPr>
          <p:nvPr>
            <p:ph type="sldNum" sz="quarter" idx="5"/>
          </p:nvPr>
        </p:nvSpPr>
        <p:spPr/>
        <p:txBody>
          <a:bodyPr/>
          <a:lstStyle/>
          <a:p>
            <a:fld id="{CCB1FB6B-C8D6-4426-8A71-B6F882E166C6}" type="slidenum">
              <a:rPr lang="en-IN" smtClean="0"/>
              <a:t>12</a:t>
            </a:fld>
            <a:endParaRPr lang="en-IN"/>
          </a:p>
        </p:txBody>
      </p:sp>
    </p:spTree>
    <p:extLst>
      <p:ext uri="{BB962C8B-B14F-4D97-AF65-F5344CB8AC3E}">
        <p14:creationId xmlns:p14="http://schemas.microsoft.com/office/powerpoint/2010/main" val="27715349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09FA9-4396-8C91-CC95-227A22F198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5FFFCA-0F8A-A8E5-F0B9-041CB5EEBF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514CB8-9DC3-4399-1239-A9CB65C70B26}"/>
              </a:ext>
            </a:extLst>
          </p:cNvPr>
          <p:cNvSpPr>
            <a:spLocks noGrp="1"/>
          </p:cNvSpPr>
          <p:nvPr>
            <p:ph type="body" idx="1"/>
          </p:nvPr>
        </p:nvSpPr>
        <p:spPr/>
        <p:txBody>
          <a:bodyPr/>
          <a:lstStyle/>
          <a:p>
            <a:r>
              <a:rPr lang="en-US" dirty="0"/>
              <a:t>This slide presents a comparative summary of model performance across multiple evaluation metrics. All models were evaluated on the same test dataset to ensure fairness. We observe that while baseline models provide useful benchmarks, ensemble and boosting methods generally achieve stronger and more consistent performance. Since performance varies across metrics, we avoid relying on a single metric for final model selection.</a:t>
            </a:r>
            <a:endParaRPr lang="en-IN" dirty="0"/>
          </a:p>
        </p:txBody>
      </p:sp>
      <p:sp>
        <p:nvSpPr>
          <p:cNvPr id="4" name="Slide Number Placeholder 3">
            <a:extLst>
              <a:ext uri="{FF2B5EF4-FFF2-40B4-BE49-F238E27FC236}">
                <a16:creationId xmlns:a16="http://schemas.microsoft.com/office/drawing/2014/main" id="{3282643A-0652-25E4-39EE-3985A1393193}"/>
              </a:ext>
            </a:extLst>
          </p:cNvPr>
          <p:cNvSpPr>
            <a:spLocks noGrp="1"/>
          </p:cNvSpPr>
          <p:nvPr>
            <p:ph type="sldNum" sz="quarter" idx="5"/>
          </p:nvPr>
        </p:nvSpPr>
        <p:spPr/>
        <p:txBody>
          <a:bodyPr/>
          <a:lstStyle/>
          <a:p>
            <a:fld id="{CCB1FB6B-C8D6-4426-8A71-B6F882E166C6}" type="slidenum">
              <a:rPr lang="en-IN" smtClean="0"/>
              <a:t>13</a:t>
            </a:fld>
            <a:endParaRPr lang="en-IN"/>
          </a:p>
        </p:txBody>
      </p:sp>
    </p:spTree>
    <p:extLst>
      <p:ext uri="{BB962C8B-B14F-4D97-AF65-F5344CB8AC3E}">
        <p14:creationId xmlns:p14="http://schemas.microsoft.com/office/powerpoint/2010/main" val="31230856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2F99DD-E366-A670-ABF0-9EB3FA2E12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48C697-5DBD-E56D-9A86-79E45CB6AE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99AAEC-6D74-D191-0FFD-590295F1AD44}"/>
              </a:ext>
            </a:extLst>
          </p:cNvPr>
          <p:cNvSpPr>
            <a:spLocks noGrp="1"/>
          </p:cNvSpPr>
          <p:nvPr>
            <p:ph type="body" idx="1"/>
          </p:nvPr>
        </p:nvSpPr>
        <p:spPr/>
        <p:txBody>
          <a:bodyPr/>
          <a:lstStyle/>
          <a:p>
            <a:r>
              <a:rPr lang="en-US" dirty="0"/>
              <a:t>Based on the comparative evaluation across multiple metrics, CatBoost was selected as the final model. The selection was not based on accuracy alone, but on consistent performance, generalization ability, and robustness to different feature types. CatBoost demonstrated stable behavior on unseen test data, making it suitable for this classification task</a:t>
            </a:r>
            <a:endParaRPr lang="en-IN" dirty="0"/>
          </a:p>
        </p:txBody>
      </p:sp>
      <p:sp>
        <p:nvSpPr>
          <p:cNvPr id="4" name="Slide Number Placeholder 3">
            <a:extLst>
              <a:ext uri="{FF2B5EF4-FFF2-40B4-BE49-F238E27FC236}">
                <a16:creationId xmlns:a16="http://schemas.microsoft.com/office/drawing/2014/main" id="{37662E68-EDE8-7C74-0CAC-B4386F11A08B}"/>
              </a:ext>
            </a:extLst>
          </p:cNvPr>
          <p:cNvSpPr>
            <a:spLocks noGrp="1"/>
          </p:cNvSpPr>
          <p:nvPr>
            <p:ph type="sldNum" sz="quarter" idx="5"/>
          </p:nvPr>
        </p:nvSpPr>
        <p:spPr/>
        <p:txBody>
          <a:bodyPr/>
          <a:lstStyle/>
          <a:p>
            <a:fld id="{CCB1FB6B-C8D6-4426-8A71-B6F882E166C6}" type="slidenum">
              <a:rPr lang="en-IN" smtClean="0"/>
              <a:t>14</a:t>
            </a:fld>
            <a:endParaRPr lang="en-IN"/>
          </a:p>
        </p:txBody>
      </p:sp>
    </p:spTree>
    <p:extLst>
      <p:ext uri="{BB962C8B-B14F-4D97-AF65-F5344CB8AC3E}">
        <p14:creationId xmlns:p14="http://schemas.microsoft.com/office/powerpoint/2010/main" val="22082085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A249F0-5985-ACAB-F916-B814A94F1E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A13549-3E18-FC8E-5B59-4DBC6FB2F1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28AFA2-D5F1-EFE2-2E2E-6C2431EFCD00}"/>
              </a:ext>
            </a:extLst>
          </p:cNvPr>
          <p:cNvSpPr>
            <a:spLocks noGrp="1"/>
          </p:cNvSpPr>
          <p:nvPr>
            <p:ph type="body" idx="1"/>
          </p:nvPr>
        </p:nvSpPr>
        <p:spPr/>
        <p:txBody>
          <a:bodyPr/>
          <a:lstStyle/>
          <a:p>
            <a:r>
              <a:rPr lang="en-US" dirty="0"/>
              <a:t>In conclusion, this project demonstrates a complete machine learning pipeline, from data understanding to model evaluation. Through exploratory data analysis and fair comparison of multiple models, we identified CatBoost as the most suitable classifier. Overall, the project highlights how proper data preparation and evaluation strategies are crucial for building reliable machine learning solutions.</a:t>
            </a:r>
            <a:endParaRPr lang="en-IN" dirty="0"/>
          </a:p>
        </p:txBody>
      </p:sp>
      <p:sp>
        <p:nvSpPr>
          <p:cNvPr id="4" name="Slide Number Placeholder 3">
            <a:extLst>
              <a:ext uri="{FF2B5EF4-FFF2-40B4-BE49-F238E27FC236}">
                <a16:creationId xmlns:a16="http://schemas.microsoft.com/office/drawing/2014/main" id="{685F0BA7-3536-6567-FB2B-83E7E98CA3C0}"/>
              </a:ext>
            </a:extLst>
          </p:cNvPr>
          <p:cNvSpPr>
            <a:spLocks noGrp="1"/>
          </p:cNvSpPr>
          <p:nvPr>
            <p:ph type="sldNum" sz="quarter" idx="5"/>
          </p:nvPr>
        </p:nvSpPr>
        <p:spPr/>
        <p:txBody>
          <a:bodyPr/>
          <a:lstStyle/>
          <a:p>
            <a:fld id="{CCB1FB6B-C8D6-4426-8A71-B6F882E166C6}" type="slidenum">
              <a:rPr lang="en-IN" smtClean="0"/>
              <a:t>15</a:t>
            </a:fld>
            <a:endParaRPr lang="en-IN"/>
          </a:p>
        </p:txBody>
      </p:sp>
    </p:spTree>
    <p:extLst>
      <p:ext uri="{BB962C8B-B14F-4D97-AF65-F5344CB8AC3E}">
        <p14:creationId xmlns:p14="http://schemas.microsoft.com/office/powerpoint/2010/main" val="766495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F58B8-FF91-E856-1942-C5654095B0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601A016-E995-D549-243B-9DEEA40B451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DD7B68F-D208-E5F8-FA76-0A8FA1E1D58B}"/>
              </a:ext>
            </a:extLst>
          </p:cNvPr>
          <p:cNvSpPr>
            <a:spLocks noGrp="1"/>
          </p:cNvSpPr>
          <p:nvPr>
            <p:ph type="dt" sz="half" idx="10"/>
          </p:nvPr>
        </p:nvSpPr>
        <p:spPr/>
        <p:txBody>
          <a:bodyPr/>
          <a:lstStyle/>
          <a:p>
            <a:fld id="{0A16984D-FD55-4186-9E5F-5376CEC054FC}" type="datetimeFigureOut">
              <a:rPr lang="en-IN" smtClean="0"/>
              <a:t>29-12-2025</a:t>
            </a:fld>
            <a:endParaRPr lang="en-IN"/>
          </a:p>
        </p:txBody>
      </p:sp>
      <p:sp>
        <p:nvSpPr>
          <p:cNvPr id="5" name="Footer Placeholder 4">
            <a:extLst>
              <a:ext uri="{FF2B5EF4-FFF2-40B4-BE49-F238E27FC236}">
                <a16:creationId xmlns:a16="http://schemas.microsoft.com/office/drawing/2014/main" id="{BB09D091-2ED2-09F6-80FD-1476434EA5A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979CBE1-5EF1-9B71-97B6-4447989D6B74}"/>
              </a:ext>
            </a:extLst>
          </p:cNvPr>
          <p:cNvSpPr>
            <a:spLocks noGrp="1"/>
          </p:cNvSpPr>
          <p:nvPr>
            <p:ph type="sldNum" sz="quarter" idx="12"/>
          </p:nvPr>
        </p:nvSpPr>
        <p:spPr/>
        <p:txBody>
          <a:bodyPr/>
          <a:lstStyle/>
          <a:p>
            <a:fld id="{24B11B21-79C9-4239-9DF4-8557CED1957F}" type="slidenum">
              <a:rPr lang="en-IN" smtClean="0"/>
              <a:t>‹#›</a:t>
            </a:fld>
            <a:endParaRPr lang="en-IN"/>
          </a:p>
        </p:txBody>
      </p:sp>
    </p:spTree>
    <p:extLst>
      <p:ext uri="{BB962C8B-B14F-4D97-AF65-F5344CB8AC3E}">
        <p14:creationId xmlns:p14="http://schemas.microsoft.com/office/powerpoint/2010/main" val="28167142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60ADA-39D5-ECB8-C8A0-80227ABA7A4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DC4D22F-8423-4A32-E7CF-50E81E735CD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EE310F6-30B6-A405-B66F-890312F8E121}"/>
              </a:ext>
            </a:extLst>
          </p:cNvPr>
          <p:cNvSpPr>
            <a:spLocks noGrp="1"/>
          </p:cNvSpPr>
          <p:nvPr>
            <p:ph type="dt" sz="half" idx="10"/>
          </p:nvPr>
        </p:nvSpPr>
        <p:spPr/>
        <p:txBody>
          <a:bodyPr/>
          <a:lstStyle/>
          <a:p>
            <a:fld id="{0A16984D-FD55-4186-9E5F-5376CEC054FC}" type="datetimeFigureOut">
              <a:rPr lang="en-IN" smtClean="0"/>
              <a:t>29-12-2025</a:t>
            </a:fld>
            <a:endParaRPr lang="en-IN"/>
          </a:p>
        </p:txBody>
      </p:sp>
      <p:sp>
        <p:nvSpPr>
          <p:cNvPr id="5" name="Footer Placeholder 4">
            <a:extLst>
              <a:ext uri="{FF2B5EF4-FFF2-40B4-BE49-F238E27FC236}">
                <a16:creationId xmlns:a16="http://schemas.microsoft.com/office/drawing/2014/main" id="{F2F0BF25-19BB-ED78-872B-B4B3D80A38B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8A8A06B-5F01-A06B-5862-FD5EDE8A6088}"/>
              </a:ext>
            </a:extLst>
          </p:cNvPr>
          <p:cNvSpPr>
            <a:spLocks noGrp="1"/>
          </p:cNvSpPr>
          <p:nvPr>
            <p:ph type="sldNum" sz="quarter" idx="12"/>
          </p:nvPr>
        </p:nvSpPr>
        <p:spPr/>
        <p:txBody>
          <a:bodyPr/>
          <a:lstStyle/>
          <a:p>
            <a:fld id="{24B11B21-79C9-4239-9DF4-8557CED1957F}" type="slidenum">
              <a:rPr lang="en-IN" smtClean="0"/>
              <a:t>‹#›</a:t>
            </a:fld>
            <a:endParaRPr lang="en-IN"/>
          </a:p>
        </p:txBody>
      </p:sp>
    </p:spTree>
    <p:extLst>
      <p:ext uri="{BB962C8B-B14F-4D97-AF65-F5344CB8AC3E}">
        <p14:creationId xmlns:p14="http://schemas.microsoft.com/office/powerpoint/2010/main" val="35723428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09608-1996-0F46-E509-92CD39B3610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94CBB31-7748-568E-E93B-CB9246949B9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CFC08D5-5E9B-67B1-E878-75C772921070}"/>
              </a:ext>
            </a:extLst>
          </p:cNvPr>
          <p:cNvSpPr>
            <a:spLocks noGrp="1"/>
          </p:cNvSpPr>
          <p:nvPr>
            <p:ph type="dt" sz="half" idx="10"/>
          </p:nvPr>
        </p:nvSpPr>
        <p:spPr/>
        <p:txBody>
          <a:bodyPr/>
          <a:lstStyle/>
          <a:p>
            <a:fld id="{0A16984D-FD55-4186-9E5F-5376CEC054FC}" type="datetimeFigureOut">
              <a:rPr lang="en-IN" smtClean="0"/>
              <a:t>29-12-2025</a:t>
            </a:fld>
            <a:endParaRPr lang="en-IN"/>
          </a:p>
        </p:txBody>
      </p:sp>
      <p:sp>
        <p:nvSpPr>
          <p:cNvPr id="5" name="Footer Placeholder 4">
            <a:extLst>
              <a:ext uri="{FF2B5EF4-FFF2-40B4-BE49-F238E27FC236}">
                <a16:creationId xmlns:a16="http://schemas.microsoft.com/office/drawing/2014/main" id="{DAB55D56-2B0C-716F-3259-4B7D2920388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145FDFB-CBDE-00A2-A374-FF5BAF759F57}"/>
              </a:ext>
            </a:extLst>
          </p:cNvPr>
          <p:cNvSpPr>
            <a:spLocks noGrp="1"/>
          </p:cNvSpPr>
          <p:nvPr>
            <p:ph type="sldNum" sz="quarter" idx="12"/>
          </p:nvPr>
        </p:nvSpPr>
        <p:spPr/>
        <p:txBody>
          <a:bodyPr/>
          <a:lstStyle/>
          <a:p>
            <a:fld id="{24B11B21-79C9-4239-9DF4-8557CED1957F}" type="slidenum">
              <a:rPr lang="en-IN" smtClean="0"/>
              <a:t>‹#›</a:t>
            </a:fld>
            <a:endParaRPr lang="en-IN"/>
          </a:p>
        </p:txBody>
      </p:sp>
    </p:spTree>
    <p:extLst>
      <p:ext uri="{BB962C8B-B14F-4D97-AF65-F5344CB8AC3E}">
        <p14:creationId xmlns:p14="http://schemas.microsoft.com/office/powerpoint/2010/main" val="13881545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3E85C-CE86-BD24-9326-B135FE57A86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0C66CFB-03B5-425B-72B5-EFD34CDE873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129D2D7-E586-5AB9-4033-5749D0D3C0E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1439802-24DC-7CE8-4C9A-9FF4D3C289C7}"/>
              </a:ext>
            </a:extLst>
          </p:cNvPr>
          <p:cNvSpPr>
            <a:spLocks noGrp="1"/>
          </p:cNvSpPr>
          <p:nvPr>
            <p:ph type="dt" sz="half" idx="10"/>
          </p:nvPr>
        </p:nvSpPr>
        <p:spPr/>
        <p:txBody>
          <a:bodyPr/>
          <a:lstStyle/>
          <a:p>
            <a:fld id="{0A16984D-FD55-4186-9E5F-5376CEC054FC}" type="datetimeFigureOut">
              <a:rPr lang="en-IN" smtClean="0"/>
              <a:t>29-12-2025</a:t>
            </a:fld>
            <a:endParaRPr lang="en-IN"/>
          </a:p>
        </p:txBody>
      </p:sp>
      <p:sp>
        <p:nvSpPr>
          <p:cNvPr id="6" name="Footer Placeholder 5">
            <a:extLst>
              <a:ext uri="{FF2B5EF4-FFF2-40B4-BE49-F238E27FC236}">
                <a16:creationId xmlns:a16="http://schemas.microsoft.com/office/drawing/2014/main" id="{C6B07398-FE4C-2C83-93FF-DA01F6B8D68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879AFD0-45C8-351B-9A6A-23E46762B53E}"/>
              </a:ext>
            </a:extLst>
          </p:cNvPr>
          <p:cNvSpPr>
            <a:spLocks noGrp="1"/>
          </p:cNvSpPr>
          <p:nvPr>
            <p:ph type="sldNum" sz="quarter" idx="12"/>
          </p:nvPr>
        </p:nvSpPr>
        <p:spPr/>
        <p:txBody>
          <a:bodyPr/>
          <a:lstStyle/>
          <a:p>
            <a:fld id="{24B11B21-79C9-4239-9DF4-8557CED1957F}" type="slidenum">
              <a:rPr lang="en-IN" smtClean="0"/>
              <a:t>‹#›</a:t>
            </a:fld>
            <a:endParaRPr lang="en-IN"/>
          </a:p>
        </p:txBody>
      </p:sp>
    </p:spTree>
    <p:extLst>
      <p:ext uri="{BB962C8B-B14F-4D97-AF65-F5344CB8AC3E}">
        <p14:creationId xmlns:p14="http://schemas.microsoft.com/office/powerpoint/2010/main" val="24477877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6249B6-E93F-F367-B61D-EC82C476D14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0B91901-2FE4-0897-5668-C0BA7B501C8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08142EE-9F35-C078-7832-21CCCDC14FD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F5B06A3-81D5-CFC2-463F-FC73939112A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1664518-DDF7-DCFD-37D1-ED26E80B6B1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DF06D36-3828-8471-3D74-6853F00D25EC}"/>
              </a:ext>
            </a:extLst>
          </p:cNvPr>
          <p:cNvSpPr>
            <a:spLocks noGrp="1"/>
          </p:cNvSpPr>
          <p:nvPr>
            <p:ph type="dt" sz="half" idx="10"/>
          </p:nvPr>
        </p:nvSpPr>
        <p:spPr/>
        <p:txBody>
          <a:bodyPr/>
          <a:lstStyle/>
          <a:p>
            <a:fld id="{0A16984D-FD55-4186-9E5F-5376CEC054FC}" type="datetimeFigureOut">
              <a:rPr lang="en-IN" smtClean="0"/>
              <a:t>29-12-2025</a:t>
            </a:fld>
            <a:endParaRPr lang="en-IN"/>
          </a:p>
        </p:txBody>
      </p:sp>
      <p:sp>
        <p:nvSpPr>
          <p:cNvPr id="8" name="Footer Placeholder 7">
            <a:extLst>
              <a:ext uri="{FF2B5EF4-FFF2-40B4-BE49-F238E27FC236}">
                <a16:creationId xmlns:a16="http://schemas.microsoft.com/office/drawing/2014/main" id="{A6D7AF06-8136-9EF1-75D8-CF551E04197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44E8812-292A-593B-AD8B-A3AB32F63C57}"/>
              </a:ext>
            </a:extLst>
          </p:cNvPr>
          <p:cNvSpPr>
            <a:spLocks noGrp="1"/>
          </p:cNvSpPr>
          <p:nvPr>
            <p:ph type="sldNum" sz="quarter" idx="12"/>
          </p:nvPr>
        </p:nvSpPr>
        <p:spPr/>
        <p:txBody>
          <a:bodyPr/>
          <a:lstStyle/>
          <a:p>
            <a:fld id="{24B11B21-79C9-4239-9DF4-8557CED1957F}" type="slidenum">
              <a:rPr lang="en-IN" smtClean="0"/>
              <a:t>‹#›</a:t>
            </a:fld>
            <a:endParaRPr lang="en-IN"/>
          </a:p>
        </p:txBody>
      </p:sp>
    </p:spTree>
    <p:extLst>
      <p:ext uri="{BB962C8B-B14F-4D97-AF65-F5344CB8AC3E}">
        <p14:creationId xmlns:p14="http://schemas.microsoft.com/office/powerpoint/2010/main" val="30513180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B1C6D-3999-720A-C277-B63A8E90B48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B3BDC45-B304-6477-83ED-71523AFC1C57}"/>
              </a:ext>
            </a:extLst>
          </p:cNvPr>
          <p:cNvSpPr>
            <a:spLocks noGrp="1"/>
          </p:cNvSpPr>
          <p:nvPr>
            <p:ph type="dt" sz="half" idx="10"/>
          </p:nvPr>
        </p:nvSpPr>
        <p:spPr/>
        <p:txBody>
          <a:bodyPr/>
          <a:lstStyle/>
          <a:p>
            <a:fld id="{0A16984D-FD55-4186-9E5F-5376CEC054FC}" type="datetimeFigureOut">
              <a:rPr lang="en-IN" smtClean="0"/>
              <a:t>29-12-2025</a:t>
            </a:fld>
            <a:endParaRPr lang="en-IN"/>
          </a:p>
        </p:txBody>
      </p:sp>
      <p:sp>
        <p:nvSpPr>
          <p:cNvPr id="4" name="Footer Placeholder 3">
            <a:extLst>
              <a:ext uri="{FF2B5EF4-FFF2-40B4-BE49-F238E27FC236}">
                <a16:creationId xmlns:a16="http://schemas.microsoft.com/office/drawing/2014/main" id="{FA88E1A2-3581-4632-6E74-43988279E9B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B27A33C-D48F-2170-7A6F-573123A7EBFA}"/>
              </a:ext>
            </a:extLst>
          </p:cNvPr>
          <p:cNvSpPr>
            <a:spLocks noGrp="1"/>
          </p:cNvSpPr>
          <p:nvPr>
            <p:ph type="sldNum" sz="quarter" idx="12"/>
          </p:nvPr>
        </p:nvSpPr>
        <p:spPr/>
        <p:txBody>
          <a:bodyPr/>
          <a:lstStyle/>
          <a:p>
            <a:fld id="{24B11B21-79C9-4239-9DF4-8557CED1957F}" type="slidenum">
              <a:rPr lang="en-IN" smtClean="0"/>
              <a:t>‹#›</a:t>
            </a:fld>
            <a:endParaRPr lang="en-IN"/>
          </a:p>
        </p:txBody>
      </p:sp>
    </p:spTree>
    <p:extLst>
      <p:ext uri="{BB962C8B-B14F-4D97-AF65-F5344CB8AC3E}">
        <p14:creationId xmlns:p14="http://schemas.microsoft.com/office/powerpoint/2010/main" val="27892207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57AF9B8-51E9-AFFB-1070-CABD7DB45584}"/>
              </a:ext>
            </a:extLst>
          </p:cNvPr>
          <p:cNvSpPr>
            <a:spLocks noGrp="1"/>
          </p:cNvSpPr>
          <p:nvPr>
            <p:ph type="dt" sz="half" idx="10"/>
          </p:nvPr>
        </p:nvSpPr>
        <p:spPr/>
        <p:txBody>
          <a:bodyPr/>
          <a:lstStyle/>
          <a:p>
            <a:fld id="{0A16984D-FD55-4186-9E5F-5376CEC054FC}" type="datetimeFigureOut">
              <a:rPr lang="en-IN" smtClean="0"/>
              <a:t>29-12-2025</a:t>
            </a:fld>
            <a:endParaRPr lang="en-IN"/>
          </a:p>
        </p:txBody>
      </p:sp>
      <p:sp>
        <p:nvSpPr>
          <p:cNvPr id="3" name="Footer Placeholder 2">
            <a:extLst>
              <a:ext uri="{FF2B5EF4-FFF2-40B4-BE49-F238E27FC236}">
                <a16:creationId xmlns:a16="http://schemas.microsoft.com/office/drawing/2014/main" id="{E3CE2DD1-D38D-60E8-BDC2-176831EA02D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74F91A0-96AF-DC3E-03E9-396F1B464D7D}"/>
              </a:ext>
            </a:extLst>
          </p:cNvPr>
          <p:cNvSpPr>
            <a:spLocks noGrp="1"/>
          </p:cNvSpPr>
          <p:nvPr>
            <p:ph type="sldNum" sz="quarter" idx="12"/>
          </p:nvPr>
        </p:nvSpPr>
        <p:spPr/>
        <p:txBody>
          <a:bodyPr/>
          <a:lstStyle/>
          <a:p>
            <a:fld id="{24B11B21-79C9-4239-9DF4-8557CED1957F}" type="slidenum">
              <a:rPr lang="en-IN" smtClean="0"/>
              <a:t>‹#›</a:t>
            </a:fld>
            <a:endParaRPr lang="en-IN"/>
          </a:p>
        </p:txBody>
      </p:sp>
    </p:spTree>
    <p:extLst>
      <p:ext uri="{BB962C8B-B14F-4D97-AF65-F5344CB8AC3E}">
        <p14:creationId xmlns:p14="http://schemas.microsoft.com/office/powerpoint/2010/main" val="26526215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BFFED-6BC5-9619-0DD1-98E26FF5E9A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4FAA0A6-484D-7C72-10F7-A7B0BA36285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CCF9580-F0E0-2B5F-8310-7B7A23BF95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B3A48D-9933-5A98-896B-2D56295E34DD}"/>
              </a:ext>
            </a:extLst>
          </p:cNvPr>
          <p:cNvSpPr>
            <a:spLocks noGrp="1"/>
          </p:cNvSpPr>
          <p:nvPr>
            <p:ph type="dt" sz="half" idx="10"/>
          </p:nvPr>
        </p:nvSpPr>
        <p:spPr/>
        <p:txBody>
          <a:bodyPr/>
          <a:lstStyle/>
          <a:p>
            <a:fld id="{0A16984D-FD55-4186-9E5F-5376CEC054FC}" type="datetimeFigureOut">
              <a:rPr lang="en-IN" smtClean="0"/>
              <a:t>29-12-2025</a:t>
            </a:fld>
            <a:endParaRPr lang="en-IN"/>
          </a:p>
        </p:txBody>
      </p:sp>
      <p:sp>
        <p:nvSpPr>
          <p:cNvPr id="6" name="Footer Placeholder 5">
            <a:extLst>
              <a:ext uri="{FF2B5EF4-FFF2-40B4-BE49-F238E27FC236}">
                <a16:creationId xmlns:a16="http://schemas.microsoft.com/office/drawing/2014/main" id="{B2259ADE-F26E-ED48-69E2-4C3D921E4EB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DFC33AD-85F9-C6CE-CE9C-5E43EA5C8D8D}"/>
              </a:ext>
            </a:extLst>
          </p:cNvPr>
          <p:cNvSpPr>
            <a:spLocks noGrp="1"/>
          </p:cNvSpPr>
          <p:nvPr>
            <p:ph type="sldNum" sz="quarter" idx="12"/>
          </p:nvPr>
        </p:nvSpPr>
        <p:spPr/>
        <p:txBody>
          <a:bodyPr/>
          <a:lstStyle/>
          <a:p>
            <a:fld id="{24B11B21-79C9-4239-9DF4-8557CED1957F}" type="slidenum">
              <a:rPr lang="en-IN" smtClean="0"/>
              <a:t>‹#›</a:t>
            </a:fld>
            <a:endParaRPr lang="en-IN"/>
          </a:p>
        </p:txBody>
      </p:sp>
    </p:spTree>
    <p:extLst>
      <p:ext uri="{BB962C8B-B14F-4D97-AF65-F5344CB8AC3E}">
        <p14:creationId xmlns:p14="http://schemas.microsoft.com/office/powerpoint/2010/main" val="13417215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908186-ADC8-20CB-EA86-0964AD85AB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4527BA8-D151-A014-23A5-B39A1F4C08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BAA26C3-B439-DDE3-58AC-B9F78ACBFBC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68639C0-FD59-7E25-AE94-854A7FFB2523}"/>
              </a:ext>
            </a:extLst>
          </p:cNvPr>
          <p:cNvSpPr>
            <a:spLocks noGrp="1"/>
          </p:cNvSpPr>
          <p:nvPr>
            <p:ph type="dt" sz="half" idx="10"/>
          </p:nvPr>
        </p:nvSpPr>
        <p:spPr/>
        <p:txBody>
          <a:bodyPr/>
          <a:lstStyle/>
          <a:p>
            <a:fld id="{0A16984D-FD55-4186-9E5F-5376CEC054FC}" type="datetimeFigureOut">
              <a:rPr lang="en-IN" smtClean="0"/>
              <a:t>29-12-2025</a:t>
            </a:fld>
            <a:endParaRPr lang="en-IN"/>
          </a:p>
        </p:txBody>
      </p:sp>
      <p:sp>
        <p:nvSpPr>
          <p:cNvPr id="6" name="Footer Placeholder 5">
            <a:extLst>
              <a:ext uri="{FF2B5EF4-FFF2-40B4-BE49-F238E27FC236}">
                <a16:creationId xmlns:a16="http://schemas.microsoft.com/office/drawing/2014/main" id="{4612F76A-315E-4193-8C81-6943D4BC9FE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2AD5C98-13E6-D1EC-40AE-5CD5308E0CCE}"/>
              </a:ext>
            </a:extLst>
          </p:cNvPr>
          <p:cNvSpPr>
            <a:spLocks noGrp="1"/>
          </p:cNvSpPr>
          <p:nvPr>
            <p:ph type="sldNum" sz="quarter" idx="12"/>
          </p:nvPr>
        </p:nvSpPr>
        <p:spPr/>
        <p:txBody>
          <a:bodyPr/>
          <a:lstStyle/>
          <a:p>
            <a:fld id="{24B11B21-79C9-4239-9DF4-8557CED1957F}" type="slidenum">
              <a:rPr lang="en-IN" smtClean="0"/>
              <a:t>‹#›</a:t>
            </a:fld>
            <a:endParaRPr lang="en-IN"/>
          </a:p>
        </p:txBody>
      </p:sp>
    </p:spTree>
    <p:extLst>
      <p:ext uri="{BB962C8B-B14F-4D97-AF65-F5344CB8AC3E}">
        <p14:creationId xmlns:p14="http://schemas.microsoft.com/office/powerpoint/2010/main" val="24087064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A85AF-7206-2C5A-84A5-9F2CFC67D2E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E192124-CFA8-49A6-523B-8B8AA9DF734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C7E0AD6-0C98-8CF8-238C-2551EE13A840}"/>
              </a:ext>
            </a:extLst>
          </p:cNvPr>
          <p:cNvSpPr>
            <a:spLocks noGrp="1"/>
          </p:cNvSpPr>
          <p:nvPr>
            <p:ph type="dt" sz="half" idx="10"/>
          </p:nvPr>
        </p:nvSpPr>
        <p:spPr/>
        <p:txBody>
          <a:bodyPr/>
          <a:lstStyle/>
          <a:p>
            <a:fld id="{0A16984D-FD55-4186-9E5F-5376CEC054FC}" type="datetimeFigureOut">
              <a:rPr lang="en-IN" smtClean="0"/>
              <a:t>29-12-2025</a:t>
            </a:fld>
            <a:endParaRPr lang="en-IN"/>
          </a:p>
        </p:txBody>
      </p:sp>
      <p:sp>
        <p:nvSpPr>
          <p:cNvPr id="5" name="Footer Placeholder 4">
            <a:extLst>
              <a:ext uri="{FF2B5EF4-FFF2-40B4-BE49-F238E27FC236}">
                <a16:creationId xmlns:a16="http://schemas.microsoft.com/office/drawing/2014/main" id="{63327362-DC3F-C56A-4424-E44F9929E8C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9F0CA00-475A-F99E-29FE-1BA773E7068F}"/>
              </a:ext>
            </a:extLst>
          </p:cNvPr>
          <p:cNvSpPr>
            <a:spLocks noGrp="1"/>
          </p:cNvSpPr>
          <p:nvPr>
            <p:ph type="sldNum" sz="quarter" idx="12"/>
          </p:nvPr>
        </p:nvSpPr>
        <p:spPr/>
        <p:txBody>
          <a:bodyPr/>
          <a:lstStyle/>
          <a:p>
            <a:fld id="{24B11B21-79C9-4239-9DF4-8557CED1957F}" type="slidenum">
              <a:rPr lang="en-IN" smtClean="0"/>
              <a:t>‹#›</a:t>
            </a:fld>
            <a:endParaRPr lang="en-IN"/>
          </a:p>
        </p:txBody>
      </p:sp>
    </p:spTree>
    <p:extLst>
      <p:ext uri="{BB962C8B-B14F-4D97-AF65-F5344CB8AC3E}">
        <p14:creationId xmlns:p14="http://schemas.microsoft.com/office/powerpoint/2010/main" val="39691144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172009F-414C-973D-9360-DE659BF6A53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4C2A2DF-55EE-4AFF-BAF1-F5E27EAEA6F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24D5E59-CC12-71ED-57A7-DBDBC286EC24}"/>
              </a:ext>
            </a:extLst>
          </p:cNvPr>
          <p:cNvSpPr>
            <a:spLocks noGrp="1"/>
          </p:cNvSpPr>
          <p:nvPr>
            <p:ph type="dt" sz="half" idx="10"/>
          </p:nvPr>
        </p:nvSpPr>
        <p:spPr/>
        <p:txBody>
          <a:bodyPr/>
          <a:lstStyle/>
          <a:p>
            <a:fld id="{0A16984D-FD55-4186-9E5F-5376CEC054FC}" type="datetimeFigureOut">
              <a:rPr lang="en-IN" smtClean="0"/>
              <a:t>29-12-2025</a:t>
            </a:fld>
            <a:endParaRPr lang="en-IN"/>
          </a:p>
        </p:txBody>
      </p:sp>
      <p:sp>
        <p:nvSpPr>
          <p:cNvPr id="5" name="Footer Placeholder 4">
            <a:extLst>
              <a:ext uri="{FF2B5EF4-FFF2-40B4-BE49-F238E27FC236}">
                <a16:creationId xmlns:a16="http://schemas.microsoft.com/office/drawing/2014/main" id="{92DFF989-2D78-DCFD-1852-DDB271B0D7E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54BF59A-B605-075C-6347-E86BA419CF4F}"/>
              </a:ext>
            </a:extLst>
          </p:cNvPr>
          <p:cNvSpPr>
            <a:spLocks noGrp="1"/>
          </p:cNvSpPr>
          <p:nvPr>
            <p:ph type="sldNum" sz="quarter" idx="12"/>
          </p:nvPr>
        </p:nvSpPr>
        <p:spPr/>
        <p:txBody>
          <a:bodyPr/>
          <a:lstStyle/>
          <a:p>
            <a:fld id="{24B11B21-79C9-4239-9DF4-8557CED1957F}" type="slidenum">
              <a:rPr lang="en-IN" smtClean="0"/>
              <a:t>‹#›</a:t>
            </a:fld>
            <a:endParaRPr lang="en-IN"/>
          </a:p>
        </p:txBody>
      </p:sp>
    </p:spTree>
    <p:extLst>
      <p:ext uri="{BB962C8B-B14F-4D97-AF65-F5344CB8AC3E}">
        <p14:creationId xmlns:p14="http://schemas.microsoft.com/office/powerpoint/2010/main" val="17038521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654693C-DEF3-BECB-0DA5-FF0DEE3E0E8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94A689B-A343-F043-37B7-55341599E13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16B469D-709A-EA33-6DD5-108984FDF78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A16984D-FD55-4186-9E5F-5376CEC054FC}" type="datetimeFigureOut">
              <a:rPr lang="en-IN" smtClean="0"/>
              <a:t>29-12-2025</a:t>
            </a:fld>
            <a:endParaRPr lang="en-IN"/>
          </a:p>
        </p:txBody>
      </p:sp>
      <p:sp>
        <p:nvSpPr>
          <p:cNvPr id="5" name="Footer Placeholder 4">
            <a:extLst>
              <a:ext uri="{FF2B5EF4-FFF2-40B4-BE49-F238E27FC236}">
                <a16:creationId xmlns:a16="http://schemas.microsoft.com/office/drawing/2014/main" id="{83F3BE6C-B5FA-FD62-7F65-B3DF63BED5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83D55DB9-0785-1A34-FF40-4181FD1FC62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4B11B21-79C9-4239-9DF4-8557CED1957F}" type="slidenum">
              <a:rPr lang="en-IN" smtClean="0"/>
              <a:t>‹#›</a:t>
            </a:fld>
            <a:endParaRPr lang="en-IN"/>
          </a:p>
        </p:txBody>
      </p:sp>
    </p:spTree>
    <p:extLst>
      <p:ext uri="{BB962C8B-B14F-4D97-AF65-F5344CB8AC3E}">
        <p14:creationId xmlns:p14="http://schemas.microsoft.com/office/powerpoint/2010/main" val="28707588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1AA93-3003-4250-19D1-467F2EF50DC8}"/>
              </a:ext>
            </a:extLst>
          </p:cNvPr>
          <p:cNvSpPr>
            <a:spLocks noGrp="1"/>
          </p:cNvSpPr>
          <p:nvPr>
            <p:ph type="ctrTitle"/>
          </p:nvPr>
        </p:nvSpPr>
        <p:spPr>
          <a:xfrm>
            <a:off x="710564" y="599526"/>
            <a:ext cx="10770873" cy="1425919"/>
          </a:xfrm>
        </p:spPr>
        <p:txBody>
          <a:bodyPr>
            <a:normAutofit/>
          </a:bodyPr>
          <a:lstStyle/>
          <a:p>
            <a:r>
              <a:rPr lang="en-US" sz="4800" b="1" dirty="0">
                <a:solidFill>
                  <a:srgbClr val="0F172A"/>
                </a:solidFill>
                <a:latin typeface="Segoe UI Black" panose="020B0A02040204020203" pitchFamily="34" charset="0"/>
                <a:ea typeface="Segoe UI Black" panose="020B0A02040204020203" pitchFamily="34" charset="0"/>
              </a:rPr>
              <a:t>Alzheimer’s Disease Classification </a:t>
            </a:r>
            <a:r>
              <a:rPr lang="en-US" sz="4400" b="1" dirty="0">
                <a:solidFill>
                  <a:srgbClr val="0F172A"/>
                </a:solidFill>
                <a:latin typeface="Segoe UI Black" panose="020B0A02040204020203" pitchFamily="34" charset="0"/>
                <a:ea typeface="Segoe UI Black" panose="020B0A02040204020203" pitchFamily="34" charset="0"/>
              </a:rPr>
              <a:t>Using Machine Learning</a:t>
            </a:r>
            <a:endParaRPr lang="en-IN" sz="4400" b="1" dirty="0">
              <a:solidFill>
                <a:srgbClr val="0F172A"/>
              </a:solidFill>
              <a:latin typeface="Segoe UI Black" panose="020B0A02040204020203" pitchFamily="34" charset="0"/>
              <a:ea typeface="Segoe UI Black" panose="020B0A02040204020203" pitchFamily="34" charset="0"/>
            </a:endParaRPr>
          </a:p>
        </p:txBody>
      </p:sp>
      <p:sp>
        <p:nvSpPr>
          <p:cNvPr id="3" name="Subtitle 2">
            <a:extLst>
              <a:ext uri="{FF2B5EF4-FFF2-40B4-BE49-F238E27FC236}">
                <a16:creationId xmlns:a16="http://schemas.microsoft.com/office/drawing/2014/main" id="{CE828F33-1205-4699-06AC-B8300B6A9507}"/>
              </a:ext>
            </a:extLst>
          </p:cNvPr>
          <p:cNvSpPr>
            <a:spLocks noGrp="1"/>
          </p:cNvSpPr>
          <p:nvPr>
            <p:ph type="subTitle" idx="1"/>
          </p:nvPr>
        </p:nvSpPr>
        <p:spPr>
          <a:xfrm>
            <a:off x="1524000" y="2025445"/>
            <a:ext cx="9144000" cy="451488"/>
          </a:xfrm>
        </p:spPr>
        <p:txBody>
          <a:bodyPr/>
          <a:lstStyle/>
          <a:p>
            <a:r>
              <a:rPr lang="en-US" dirty="0">
                <a:latin typeface="Segoe UI Light" panose="020B0502040204020203" pitchFamily="34" charset="0"/>
                <a:ea typeface="Inter" panose="02000503000000020004" pitchFamily="2" charset="0"/>
                <a:cs typeface="Segoe UI Light" panose="020B0502040204020203" pitchFamily="34" charset="0"/>
              </a:rPr>
              <a:t>A </a:t>
            </a:r>
            <a:r>
              <a:rPr lang="en-US" dirty="0">
                <a:solidFill>
                  <a:srgbClr val="475569"/>
                </a:solidFill>
                <a:latin typeface="Segoe UI Light" panose="020B0502040204020203" pitchFamily="34" charset="0"/>
                <a:ea typeface="Inter" panose="02000503000000020004" pitchFamily="2" charset="0"/>
                <a:cs typeface="Segoe UI Light" panose="020B0502040204020203" pitchFamily="34" charset="0"/>
              </a:rPr>
              <a:t>Data-Driven</a:t>
            </a:r>
            <a:r>
              <a:rPr lang="en-US" dirty="0">
                <a:latin typeface="Segoe UI Light" panose="020B0502040204020203" pitchFamily="34" charset="0"/>
                <a:ea typeface="Inter" panose="02000503000000020004" pitchFamily="2" charset="0"/>
                <a:cs typeface="Segoe UI Light" panose="020B0502040204020203" pitchFamily="34" charset="0"/>
              </a:rPr>
              <a:t> Approach for Early Detection</a:t>
            </a:r>
            <a:endParaRPr lang="en-IN" dirty="0">
              <a:latin typeface="Segoe UI Light" panose="020B0502040204020203" pitchFamily="34" charset="0"/>
              <a:ea typeface="Inter" panose="02000503000000020004" pitchFamily="2" charset="0"/>
              <a:cs typeface="Segoe UI Light" panose="020B0502040204020203" pitchFamily="34" charset="0"/>
            </a:endParaRPr>
          </a:p>
        </p:txBody>
      </p:sp>
      <p:sp>
        <p:nvSpPr>
          <p:cNvPr id="9" name="TextBox 8">
            <a:extLst>
              <a:ext uri="{FF2B5EF4-FFF2-40B4-BE49-F238E27FC236}">
                <a16:creationId xmlns:a16="http://schemas.microsoft.com/office/drawing/2014/main" id="{2085ECB9-7BB6-3AF2-4223-ADDA2C11FFED}"/>
              </a:ext>
            </a:extLst>
          </p:cNvPr>
          <p:cNvSpPr txBox="1"/>
          <p:nvPr/>
        </p:nvSpPr>
        <p:spPr>
          <a:xfrm>
            <a:off x="847418" y="2582599"/>
            <a:ext cx="3782778" cy="2846933"/>
          </a:xfrm>
          <a:prstGeom prst="rect">
            <a:avLst/>
          </a:prstGeom>
          <a:noFill/>
        </p:spPr>
        <p:txBody>
          <a:bodyPr wrap="square">
            <a:spAutoFit/>
          </a:bodyPr>
          <a:lstStyle/>
          <a:p>
            <a:r>
              <a:rPr lang="en-IN" dirty="0">
                <a:solidFill>
                  <a:srgbClr val="0EA5A4"/>
                </a:solidFill>
              </a:rPr>
              <a:t>Group Members:</a:t>
            </a:r>
          </a:p>
          <a:p>
            <a:pPr marL="285750" indent="-285750">
              <a:spcBef>
                <a:spcPts val="600"/>
              </a:spcBef>
              <a:buFont typeface="Arial" panose="020B0604020202020204" pitchFamily="34" charset="0"/>
              <a:buChar char="•"/>
            </a:pPr>
            <a:r>
              <a:rPr lang="en-IN" dirty="0">
                <a:solidFill>
                  <a:srgbClr val="475569"/>
                </a:solidFill>
              </a:rPr>
              <a:t>Pornima Shrikant Shelke</a:t>
            </a:r>
          </a:p>
          <a:p>
            <a:pPr marL="285750" indent="-285750">
              <a:spcBef>
                <a:spcPts val="600"/>
              </a:spcBef>
              <a:buFont typeface="Arial" panose="020B0604020202020204" pitchFamily="34" charset="0"/>
              <a:buChar char="•"/>
            </a:pPr>
            <a:r>
              <a:rPr lang="en-IN" dirty="0">
                <a:solidFill>
                  <a:srgbClr val="475569"/>
                </a:solidFill>
              </a:rPr>
              <a:t>Ananya </a:t>
            </a:r>
            <a:r>
              <a:rPr lang="en-IN" dirty="0" err="1">
                <a:solidFill>
                  <a:srgbClr val="475569"/>
                </a:solidFill>
              </a:rPr>
              <a:t>Indudhara</a:t>
            </a:r>
            <a:endParaRPr lang="en-IN" dirty="0">
              <a:solidFill>
                <a:srgbClr val="475569"/>
              </a:solidFill>
            </a:endParaRPr>
          </a:p>
          <a:p>
            <a:pPr marL="285750" indent="-285750">
              <a:spcBef>
                <a:spcPts val="600"/>
              </a:spcBef>
              <a:buFont typeface="Arial" panose="020B0604020202020204" pitchFamily="34" charset="0"/>
              <a:buChar char="•"/>
            </a:pPr>
            <a:r>
              <a:rPr lang="en-IN" dirty="0">
                <a:solidFill>
                  <a:srgbClr val="475569"/>
                </a:solidFill>
              </a:rPr>
              <a:t>Dinesh Padhan</a:t>
            </a:r>
          </a:p>
          <a:p>
            <a:pPr marL="285750" indent="-285750">
              <a:spcBef>
                <a:spcPts val="600"/>
              </a:spcBef>
              <a:buFont typeface="Arial" panose="020B0604020202020204" pitchFamily="34" charset="0"/>
              <a:buChar char="•"/>
            </a:pPr>
            <a:r>
              <a:rPr lang="en-IN" dirty="0" err="1">
                <a:solidFill>
                  <a:srgbClr val="475569"/>
                </a:solidFill>
              </a:rPr>
              <a:t>Avranil</a:t>
            </a:r>
            <a:r>
              <a:rPr lang="en-IN" dirty="0">
                <a:solidFill>
                  <a:srgbClr val="475569"/>
                </a:solidFill>
              </a:rPr>
              <a:t> Dutta</a:t>
            </a:r>
          </a:p>
          <a:p>
            <a:pPr marL="285750" indent="-285750">
              <a:spcBef>
                <a:spcPts val="600"/>
              </a:spcBef>
              <a:buFont typeface="Arial" panose="020B0604020202020204" pitchFamily="34" charset="0"/>
              <a:buChar char="•"/>
            </a:pPr>
            <a:r>
              <a:rPr lang="en-IN" dirty="0" err="1">
                <a:solidFill>
                  <a:srgbClr val="475569"/>
                </a:solidFill>
              </a:rPr>
              <a:t>Adhul</a:t>
            </a:r>
            <a:r>
              <a:rPr lang="en-IN" dirty="0">
                <a:solidFill>
                  <a:srgbClr val="475569"/>
                </a:solidFill>
              </a:rPr>
              <a:t> Paramel Sathish</a:t>
            </a:r>
          </a:p>
          <a:p>
            <a:pPr marL="285750" indent="-285750">
              <a:spcBef>
                <a:spcPts val="600"/>
              </a:spcBef>
              <a:buFont typeface="Arial" panose="020B0604020202020204" pitchFamily="34" charset="0"/>
              <a:buChar char="•"/>
            </a:pPr>
            <a:r>
              <a:rPr lang="en-IN" dirty="0">
                <a:solidFill>
                  <a:srgbClr val="475569"/>
                </a:solidFill>
              </a:rPr>
              <a:t>Venkata Nagaraju Jagu</a:t>
            </a:r>
          </a:p>
          <a:p>
            <a:pPr marL="285750" indent="-285750">
              <a:spcBef>
                <a:spcPts val="600"/>
              </a:spcBef>
              <a:buFont typeface="Arial" panose="020B0604020202020204" pitchFamily="34" charset="0"/>
              <a:buChar char="•"/>
            </a:pPr>
            <a:r>
              <a:rPr lang="en-IN" dirty="0" err="1">
                <a:solidFill>
                  <a:srgbClr val="475569"/>
                </a:solidFill>
              </a:rPr>
              <a:t>Subburu</a:t>
            </a:r>
            <a:r>
              <a:rPr lang="en-IN" dirty="0">
                <a:solidFill>
                  <a:srgbClr val="475569"/>
                </a:solidFill>
              </a:rPr>
              <a:t> Manoj Kumar</a:t>
            </a:r>
          </a:p>
        </p:txBody>
      </p:sp>
      <p:sp>
        <p:nvSpPr>
          <p:cNvPr id="14" name="TextBox 13">
            <a:extLst>
              <a:ext uri="{FF2B5EF4-FFF2-40B4-BE49-F238E27FC236}">
                <a16:creationId xmlns:a16="http://schemas.microsoft.com/office/drawing/2014/main" id="{1F0E08DB-E4AA-8673-50C0-C36A2DC0631A}"/>
              </a:ext>
            </a:extLst>
          </p:cNvPr>
          <p:cNvSpPr txBox="1"/>
          <p:nvPr/>
        </p:nvSpPr>
        <p:spPr>
          <a:xfrm>
            <a:off x="847418" y="5535199"/>
            <a:ext cx="4180984" cy="723275"/>
          </a:xfrm>
          <a:prstGeom prst="rect">
            <a:avLst/>
          </a:prstGeom>
          <a:noFill/>
        </p:spPr>
        <p:txBody>
          <a:bodyPr wrap="square">
            <a:spAutoFit/>
          </a:bodyPr>
          <a:lstStyle/>
          <a:p>
            <a:pPr>
              <a:spcBef>
                <a:spcPts val="600"/>
              </a:spcBef>
            </a:pPr>
            <a:r>
              <a:rPr lang="en-IN" b="1" dirty="0">
                <a:solidFill>
                  <a:srgbClr val="0EA5A4"/>
                </a:solidFill>
              </a:rPr>
              <a:t>Mentor</a:t>
            </a:r>
            <a:r>
              <a:rPr lang="en-IN" dirty="0">
                <a:solidFill>
                  <a:srgbClr val="0EA5A4"/>
                </a:solidFill>
              </a:rPr>
              <a:t> – </a:t>
            </a:r>
            <a:r>
              <a:rPr lang="en-IN" dirty="0">
                <a:solidFill>
                  <a:srgbClr val="475569"/>
                </a:solidFill>
              </a:rPr>
              <a:t>RP Adhvaith</a:t>
            </a:r>
          </a:p>
          <a:p>
            <a:pPr>
              <a:spcBef>
                <a:spcPts val="600"/>
              </a:spcBef>
            </a:pPr>
            <a:r>
              <a:rPr lang="en-IN" b="1" dirty="0">
                <a:solidFill>
                  <a:srgbClr val="0EA5A4"/>
                </a:solidFill>
              </a:rPr>
              <a:t>Co-Mentor</a:t>
            </a:r>
            <a:r>
              <a:rPr lang="en-IN" dirty="0">
                <a:solidFill>
                  <a:srgbClr val="0EA5A4"/>
                </a:solidFill>
              </a:rPr>
              <a:t> – </a:t>
            </a:r>
            <a:r>
              <a:rPr lang="en-IN" dirty="0" err="1">
                <a:solidFill>
                  <a:srgbClr val="475569"/>
                </a:solidFill>
              </a:rPr>
              <a:t>Sunkarapelli</a:t>
            </a:r>
            <a:r>
              <a:rPr lang="en-IN" dirty="0">
                <a:solidFill>
                  <a:srgbClr val="475569"/>
                </a:solidFill>
              </a:rPr>
              <a:t> Mounika</a:t>
            </a:r>
          </a:p>
        </p:txBody>
      </p:sp>
      <p:pic>
        <p:nvPicPr>
          <p:cNvPr id="1026" name="Picture 2" descr="Hybridized Deep Learning Approach for Detecting Alzheimer’s Disease">
            <a:extLst>
              <a:ext uri="{FF2B5EF4-FFF2-40B4-BE49-F238E27FC236}">
                <a16:creationId xmlns:a16="http://schemas.microsoft.com/office/drawing/2014/main" id="{420B7BAC-1D1C-987A-2392-F27E48DF52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2687" y="3018993"/>
            <a:ext cx="5238750" cy="2724150"/>
          </a:xfrm>
          <a:prstGeom prst="rect">
            <a:avLst/>
          </a:prstGeom>
          <a:ln w="177800" cap="sq" cmpd="thickThin">
            <a:solidFill>
              <a:srgbClr val="E2E8F0"/>
            </a:solidFill>
            <a:prstDash val="solid"/>
            <a:round/>
          </a:ln>
          <a:effectLst>
            <a:innerShdw blurRad="76200">
              <a:srgbClr val="000000"/>
            </a:innerShdw>
          </a:effectLst>
          <a:extLst>
            <a:ext uri="{909E8E84-426E-40DD-AFC4-6F175D3DCCD1}">
              <a14:hiddenFill xmlns:a14="http://schemas.microsoft.com/office/drawing/2010/main">
                <a:solidFill>
                  <a:srgbClr val="FFFFFF"/>
                </a:solidFill>
              </a14:hiddenFill>
            </a:ext>
          </a:extLst>
        </p:spPr>
      </p:pic>
      <p:cxnSp>
        <p:nvCxnSpPr>
          <p:cNvPr id="16" name="Straight Connector 15">
            <a:extLst>
              <a:ext uri="{FF2B5EF4-FFF2-40B4-BE49-F238E27FC236}">
                <a16:creationId xmlns:a16="http://schemas.microsoft.com/office/drawing/2014/main" id="{BC8ED3E3-2D5E-3B52-EB8B-999869F0832A}"/>
              </a:ext>
            </a:extLst>
          </p:cNvPr>
          <p:cNvCxnSpPr>
            <a:cxnSpLocks/>
          </p:cNvCxnSpPr>
          <p:nvPr/>
        </p:nvCxnSpPr>
        <p:spPr>
          <a:xfrm>
            <a:off x="847418" y="5515172"/>
            <a:ext cx="3262466" cy="0"/>
          </a:xfrm>
          <a:prstGeom prst="line">
            <a:avLst/>
          </a:prstGeom>
          <a:ln>
            <a:gradFill>
              <a:gsLst>
                <a:gs pos="0">
                  <a:srgbClr val="656565"/>
                </a:gs>
                <a:gs pos="57000">
                  <a:schemeClr val="accent1">
                    <a:lumMod val="45000"/>
                    <a:lumOff val="55000"/>
                  </a:schemeClr>
                </a:gs>
                <a:gs pos="83000">
                  <a:srgbClr val="0EA5A4"/>
                </a:gs>
                <a:gs pos="100000">
                  <a:srgbClr val="40AEE0"/>
                </a:gs>
              </a:gsLst>
              <a:lin ang="5400000" scaled="1"/>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45670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500"/>
                                        <p:tgtEl>
                                          <p:spTgt spid="3">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500"/>
                                        <p:tgtEl>
                                          <p:spTgt spid="14"/>
                                        </p:tgtEl>
                                      </p:cBhvr>
                                    </p:animEffect>
                                  </p:childTnLst>
                                </p:cTn>
                              </p:par>
                              <p:par>
                                <p:cTn id="17" presetID="10" presetClass="entr" presetSubtype="0" fill="hold" nodeType="withEffect">
                                  <p:stCondLst>
                                    <p:cond delay="0"/>
                                  </p:stCondLst>
                                  <p:childTnLst>
                                    <p:set>
                                      <p:cBhvr>
                                        <p:cTn id="18" dur="1" fill="hold">
                                          <p:stCondLst>
                                            <p:cond delay="0"/>
                                          </p:stCondLst>
                                        </p:cTn>
                                        <p:tgtEl>
                                          <p:spTgt spid="1026"/>
                                        </p:tgtEl>
                                        <p:attrNameLst>
                                          <p:attrName>style.visibility</p:attrName>
                                        </p:attrNameLst>
                                      </p:cBhvr>
                                      <p:to>
                                        <p:strVal val="visible"/>
                                      </p:to>
                                    </p:set>
                                    <p:animEffect transition="in" filter="fade">
                                      <p:cBhvr>
                                        <p:cTn id="19" dur="500"/>
                                        <p:tgtEl>
                                          <p:spTgt spid="1026"/>
                                        </p:tgtEl>
                                      </p:cBhvr>
                                    </p:animEffect>
                                  </p:childTnLst>
                                </p:cTn>
                              </p:par>
                              <p:par>
                                <p:cTn id="20" presetID="10" presetClass="entr" presetSubtype="0" fill="hold"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9" grpId="0"/>
      <p:bldP spid="14"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F455FBF-53CB-3AF0-77A1-7E5C1055875B}"/>
              </a:ext>
            </a:extLst>
          </p:cNvPr>
          <p:cNvSpPr txBox="1"/>
          <p:nvPr/>
        </p:nvSpPr>
        <p:spPr>
          <a:xfrm>
            <a:off x="511277" y="1172186"/>
            <a:ext cx="4463846" cy="646331"/>
          </a:xfrm>
          <a:prstGeom prst="rect">
            <a:avLst/>
          </a:prstGeom>
          <a:noFill/>
        </p:spPr>
        <p:txBody>
          <a:bodyPr wrap="square">
            <a:spAutoFit/>
          </a:bodyPr>
          <a:lstStyle/>
          <a:p>
            <a:r>
              <a:rPr lang="en-IN" sz="3600" b="1" dirty="0">
                <a:solidFill>
                  <a:srgbClr val="0F172A"/>
                </a:solidFill>
              </a:rPr>
              <a:t>Problem Statement</a:t>
            </a:r>
          </a:p>
        </p:txBody>
      </p:sp>
      <p:sp>
        <p:nvSpPr>
          <p:cNvPr id="7" name="TextBox 6">
            <a:extLst>
              <a:ext uri="{FF2B5EF4-FFF2-40B4-BE49-F238E27FC236}">
                <a16:creationId xmlns:a16="http://schemas.microsoft.com/office/drawing/2014/main" id="{7282B3EC-4FF1-EB6E-F28D-04D3277E9CAC}"/>
              </a:ext>
            </a:extLst>
          </p:cNvPr>
          <p:cNvSpPr txBox="1"/>
          <p:nvPr/>
        </p:nvSpPr>
        <p:spPr>
          <a:xfrm>
            <a:off x="511276" y="1818517"/>
            <a:ext cx="6882581" cy="400110"/>
          </a:xfrm>
          <a:prstGeom prst="rect">
            <a:avLst/>
          </a:prstGeom>
          <a:noFill/>
        </p:spPr>
        <p:txBody>
          <a:bodyPr wrap="square">
            <a:spAutoFit/>
          </a:bodyPr>
          <a:lstStyle/>
          <a:p>
            <a:r>
              <a:rPr lang="en-US" sz="2000" dirty="0">
                <a:solidFill>
                  <a:srgbClr val="0EA5A4"/>
                </a:solidFill>
              </a:rPr>
              <a:t>Challenges in Applying Machine Learning to Alzheimer’s Data</a:t>
            </a:r>
            <a:endParaRPr lang="en-IN" sz="2000" dirty="0">
              <a:solidFill>
                <a:srgbClr val="0EA5A4"/>
              </a:solidFill>
            </a:endParaRPr>
          </a:p>
        </p:txBody>
      </p:sp>
      <p:sp>
        <p:nvSpPr>
          <p:cNvPr id="8" name="Rectangle 1">
            <a:extLst>
              <a:ext uri="{FF2B5EF4-FFF2-40B4-BE49-F238E27FC236}">
                <a16:creationId xmlns:a16="http://schemas.microsoft.com/office/drawing/2014/main" id="{95BF3EA4-639A-F9E9-9ABB-35464493C95E}"/>
              </a:ext>
            </a:extLst>
          </p:cNvPr>
          <p:cNvSpPr>
            <a:spLocks noChangeArrowheads="1"/>
          </p:cNvSpPr>
          <p:nvPr/>
        </p:nvSpPr>
        <p:spPr bwMode="auto">
          <a:xfrm>
            <a:off x="511276" y="2713419"/>
            <a:ext cx="11172867" cy="14311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ts val="60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rgbClr val="475569"/>
                </a:solidFill>
                <a:effectLst/>
                <a:latin typeface="Arial" panose="020B0604020202020204" pitchFamily="34" charset="0"/>
              </a:rPr>
              <a:t>Alzheimer’s datasets contain </a:t>
            </a:r>
            <a:r>
              <a:rPr kumimoji="0" lang="en-US" altLang="en-US" sz="1800" b="1" i="0" u="none" strike="noStrike" cap="none" normalizeH="0" baseline="0" dirty="0">
                <a:ln>
                  <a:noFill/>
                </a:ln>
                <a:solidFill>
                  <a:srgbClr val="475569"/>
                </a:solidFill>
                <a:effectLst/>
                <a:latin typeface="Arial" panose="020B0604020202020204" pitchFamily="34" charset="0"/>
              </a:rPr>
              <a:t>heterogeneous features</a:t>
            </a:r>
            <a:r>
              <a:rPr kumimoji="0" lang="en-US" altLang="en-US" sz="1800" b="0" i="0" u="none" strike="noStrike" cap="none" normalizeH="0" baseline="0" dirty="0">
                <a:ln>
                  <a:noFill/>
                </a:ln>
                <a:solidFill>
                  <a:srgbClr val="475569"/>
                </a:solidFill>
                <a:effectLst/>
                <a:latin typeface="Arial" panose="020B0604020202020204" pitchFamily="34" charset="0"/>
              </a:rPr>
              <a:t> such as demographic, clinical, and cognitive data</a:t>
            </a:r>
          </a:p>
          <a:p>
            <a:pPr marL="285750" marR="0" lvl="0" indent="-285750" algn="l" defTabSz="914400" rtl="0" eaLnBrk="0" fontAlgn="base" latinLnBrk="0" hangingPunct="0">
              <a:lnSpc>
                <a:spcPct val="100000"/>
              </a:lnSpc>
              <a:spcBef>
                <a:spcPts val="60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rgbClr val="475569"/>
                </a:solidFill>
                <a:effectLst/>
                <a:latin typeface="Arial" panose="020B0604020202020204" pitchFamily="34" charset="0"/>
              </a:rPr>
              <a:t>Manual analysis of such high-dimensional data is </a:t>
            </a:r>
            <a:r>
              <a:rPr kumimoji="0" lang="en-US" altLang="en-US" sz="1800" b="1" i="0" u="none" strike="noStrike" cap="none" normalizeH="0" baseline="0" dirty="0">
                <a:ln>
                  <a:noFill/>
                </a:ln>
                <a:solidFill>
                  <a:srgbClr val="475569"/>
                </a:solidFill>
                <a:effectLst/>
                <a:latin typeface="Arial" panose="020B0604020202020204" pitchFamily="34" charset="0"/>
              </a:rPr>
              <a:t>inefficient and difficult to scale</a:t>
            </a:r>
            <a:endParaRPr kumimoji="0" lang="en-US" altLang="en-US" sz="1800" b="0" i="0" u="none" strike="noStrike" cap="none" normalizeH="0" baseline="0" dirty="0">
              <a:ln>
                <a:noFill/>
              </a:ln>
              <a:solidFill>
                <a:srgbClr val="475569"/>
              </a:solidFill>
              <a:effectLst/>
              <a:latin typeface="Arial" panose="020B0604020202020204" pitchFamily="34" charset="0"/>
            </a:endParaRPr>
          </a:p>
          <a:p>
            <a:pPr marL="285750" marR="0" lvl="0" indent="-285750" algn="l" defTabSz="914400" rtl="0" eaLnBrk="0" fontAlgn="base" latinLnBrk="0" hangingPunct="0">
              <a:lnSpc>
                <a:spcPct val="100000"/>
              </a:lnSpc>
              <a:spcBef>
                <a:spcPts val="60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rgbClr val="475569"/>
                </a:solidFill>
                <a:effectLst/>
                <a:latin typeface="Arial" panose="020B0604020202020204" pitchFamily="34" charset="0"/>
              </a:rPr>
              <a:t>Identifying meaningful patterns for </a:t>
            </a:r>
            <a:r>
              <a:rPr kumimoji="0" lang="en-US" altLang="en-US" sz="1800" b="1" i="0" u="none" strike="noStrike" cap="none" normalizeH="0" baseline="0" dirty="0">
                <a:ln>
                  <a:noFill/>
                </a:ln>
                <a:solidFill>
                  <a:srgbClr val="475569"/>
                </a:solidFill>
                <a:effectLst/>
                <a:latin typeface="Arial" panose="020B0604020202020204" pitchFamily="34" charset="0"/>
              </a:rPr>
              <a:t>disease stage classification</a:t>
            </a:r>
            <a:r>
              <a:rPr kumimoji="0" lang="en-US" altLang="en-US" sz="1800" b="0" i="0" u="none" strike="noStrike" cap="none" normalizeH="0" baseline="0" dirty="0">
                <a:ln>
                  <a:noFill/>
                </a:ln>
                <a:solidFill>
                  <a:srgbClr val="475569"/>
                </a:solidFill>
                <a:effectLst/>
                <a:latin typeface="Arial" panose="020B0604020202020204" pitchFamily="34" charset="0"/>
              </a:rPr>
              <a:t> is a complex task</a:t>
            </a:r>
          </a:p>
          <a:p>
            <a:pPr marL="285750" marR="0" lvl="0" indent="-285750" algn="l" defTabSz="914400" rtl="0" eaLnBrk="0" fontAlgn="base" latinLnBrk="0" hangingPunct="0">
              <a:lnSpc>
                <a:spcPct val="100000"/>
              </a:lnSpc>
              <a:spcBef>
                <a:spcPts val="60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rgbClr val="475569"/>
                </a:solidFill>
                <a:effectLst/>
                <a:latin typeface="Arial" panose="020B0604020202020204" pitchFamily="34" charset="0"/>
              </a:rPr>
              <a:t>There is a need for </a:t>
            </a:r>
            <a:r>
              <a:rPr kumimoji="0" lang="en-US" altLang="en-US" sz="1800" b="1" i="0" u="none" strike="noStrike" cap="none" normalizeH="0" baseline="0" dirty="0">
                <a:ln>
                  <a:noFill/>
                </a:ln>
                <a:solidFill>
                  <a:srgbClr val="475569"/>
                </a:solidFill>
                <a:effectLst/>
                <a:latin typeface="Arial" panose="020B0604020202020204" pitchFamily="34" charset="0"/>
              </a:rPr>
              <a:t>automated machine learning models</a:t>
            </a:r>
            <a:r>
              <a:rPr kumimoji="0" lang="en-US" altLang="en-US" sz="1800" b="0" i="0" u="none" strike="noStrike" cap="none" normalizeH="0" baseline="0" dirty="0">
                <a:ln>
                  <a:noFill/>
                </a:ln>
                <a:solidFill>
                  <a:srgbClr val="475569"/>
                </a:solidFill>
                <a:effectLst/>
                <a:latin typeface="Arial" panose="020B0604020202020204" pitchFamily="34" charset="0"/>
              </a:rPr>
              <a:t> to accurately classify disease stages</a:t>
            </a:r>
          </a:p>
        </p:txBody>
      </p:sp>
      <p:sp>
        <p:nvSpPr>
          <p:cNvPr id="9" name="Rectangle 8">
            <a:extLst>
              <a:ext uri="{FF2B5EF4-FFF2-40B4-BE49-F238E27FC236}">
                <a16:creationId xmlns:a16="http://schemas.microsoft.com/office/drawing/2014/main" id="{E09914AF-FBFD-D497-E8C7-CB006C343330}"/>
              </a:ext>
            </a:extLst>
          </p:cNvPr>
          <p:cNvSpPr/>
          <p:nvPr/>
        </p:nvSpPr>
        <p:spPr>
          <a:xfrm>
            <a:off x="1312606" y="4659037"/>
            <a:ext cx="9566788" cy="796413"/>
          </a:xfrm>
          <a:prstGeom prst="rect">
            <a:avLst/>
          </a:prstGeom>
          <a:solidFill>
            <a:srgbClr val="DCFCE7"/>
          </a:solidFill>
          <a:ln>
            <a:solidFill>
              <a:srgbClr val="22C5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14532D"/>
                </a:solidFill>
              </a:rPr>
              <a:t>Machine learning enables efficient pattern recognition and classification from complex Alzheimer’s datasets.</a:t>
            </a:r>
            <a:endParaRPr lang="en-IN" dirty="0">
              <a:solidFill>
                <a:srgbClr val="14532D"/>
              </a:solidFill>
            </a:endParaRPr>
          </a:p>
        </p:txBody>
      </p:sp>
    </p:spTree>
    <p:extLst>
      <p:ext uri="{BB962C8B-B14F-4D97-AF65-F5344CB8AC3E}">
        <p14:creationId xmlns:p14="http://schemas.microsoft.com/office/powerpoint/2010/main" val="2177726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P spid="9"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40B66571-EE1E-A883-432C-8257780E4443}"/>
              </a:ext>
            </a:extLst>
          </p:cNvPr>
          <p:cNvSpPr txBox="1"/>
          <p:nvPr/>
        </p:nvSpPr>
        <p:spPr>
          <a:xfrm>
            <a:off x="714703" y="743649"/>
            <a:ext cx="4754406" cy="646331"/>
          </a:xfrm>
          <a:prstGeom prst="rect">
            <a:avLst/>
          </a:prstGeom>
          <a:noFill/>
        </p:spPr>
        <p:txBody>
          <a:bodyPr wrap="square">
            <a:spAutoFit/>
          </a:bodyPr>
          <a:lstStyle/>
          <a:p>
            <a:r>
              <a:rPr lang="en-IN" sz="3600" b="1" dirty="0">
                <a:solidFill>
                  <a:srgbClr val="0F172A"/>
                </a:solidFill>
              </a:rPr>
              <a:t>Project Objective</a:t>
            </a:r>
          </a:p>
        </p:txBody>
      </p:sp>
      <p:sp>
        <p:nvSpPr>
          <p:cNvPr id="7" name="TextBox 6">
            <a:extLst>
              <a:ext uri="{FF2B5EF4-FFF2-40B4-BE49-F238E27FC236}">
                <a16:creationId xmlns:a16="http://schemas.microsoft.com/office/drawing/2014/main" id="{17C0E8C0-F050-2C1F-2DA4-732745D2EF75}"/>
              </a:ext>
            </a:extLst>
          </p:cNvPr>
          <p:cNvSpPr txBox="1"/>
          <p:nvPr/>
        </p:nvSpPr>
        <p:spPr>
          <a:xfrm>
            <a:off x="714703" y="1468396"/>
            <a:ext cx="4754406" cy="430887"/>
          </a:xfrm>
          <a:prstGeom prst="rect">
            <a:avLst/>
          </a:prstGeom>
          <a:noFill/>
        </p:spPr>
        <p:txBody>
          <a:bodyPr wrap="square">
            <a:spAutoFit/>
          </a:bodyPr>
          <a:lstStyle/>
          <a:p>
            <a:r>
              <a:rPr lang="en-IN" sz="2200" dirty="0">
                <a:solidFill>
                  <a:srgbClr val="0EA5A4"/>
                </a:solidFill>
              </a:rPr>
              <a:t>Primary Objective</a:t>
            </a:r>
            <a:endParaRPr lang="en-IN" sz="2200" b="1" dirty="0">
              <a:solidFill>
                <a:srgbClr val="0EA5A4"/>
              </a:solidFill>
            </a:endParaRPr>
          </a:p>
        </p:txBody>
      </p:sp>
      <p:sp>
        <p:nvSpPr>
          <p:cNvPr id="9" name="TextBox 8">
            <a:extLst>
              <a:ext uri="{FF2B5EF4-FFF2-40B4-BE49-F238E27FC236}">
                <a16:creationId xmlns:a16="http://schemas.microsoft.com/office/drawing/2014/main" id="{4A7F0A86-2173-B8C5-DB22-2B9097B14D29}"/>
              </a:ext>
            </a:extLst>
          </p:cNvPr>
          <p:cNvSpPr txBox="1"/>
          <p:nvPr/>
        </p:nvSpPr>
        <p:spPr>
          <a:xfrm>
            <a:off x="714703" y="1899283"/>
            <a:ext cx="10762594" cy="646331"/>
          </a:xfrm>
          <a:prstGeom prst="rect">
            <a:avLst/>
          </a:prstGeom>
          <a:noFill/>
        </p:spPr>
        <p:txBody>
          <a:bodyPr wrap="square">
            <a:spAutoFit/>
          </a:bodyPr>
          <a:lstStyle/>
          <a:p>
            <a:r>
              <a:rPr lang="en-US" dirty="0">
                <a:solidFill>
                  <a:srgbClr val="475569"/>
                </a:solidFill>
              </a:rPr>
              <a:t>To design and implement a machine learning–based classification system for predicting Alzheimer’s disease stages, with a focus on tree-based ensemble models.</a:t>
            </a:r>
            <a:endParaRPr lang="en-IN" dirty="0">
              <a:solidFill>
                <a:srgbClr val="475569"/>
              </a:solidFill>
            </a:endParaRPr>
          </a:p>
        </p:txBody>
      </p:sp>
      <p:sp>
        <p:nvSpPr>
          <p:cNvPr id="10" name="TextBox 9">
            <a:extLst>
              <a:ext uri="{FF2B5EF4-FFF2-40B4-BE49-F238E27FC236}">
                <a16:creationId xmlns:a16="http://schemas.microsoft.com/office/drawing/2014/main" id="{36D0A8D3-3B30-6AD0-E968-00BABEDFFE0A}"/>
              </a:ext>
            </a:extLst>
          </p:cNvPr>
          <p:cNvSpPr txBox="1"/>
          <p:nvPr/>
        </p:nvSpPr>
        <p:spPr>
          <a:xfrm>
            <a:off x="714703" y="2821141"/>
            <a:ext cx="4754406" cy="430887"/>
          </a:xfrm>
          <a:prstGeom prst="rect">
            <a:avLst/>
          </a:prstGeom>
          <a:noFill/>
        </p:spPr>
        <p:txBody>
          <a:bodyPr wrap="square">
            <a:spAutoFit/>
          </a:bodyPr>
          <a:lstStyle/>
          <a:p>
            <a:r>
              <a:rPr lang="en-IN" sz="2200">
                <a:solidFill>
                  <a:srgbClr val="0EA5A4"/>
                </a:solidFill>
              </a:rPr>
              <a:t>Secondary Objectives</a:t>
            </a:r>
            <a:endParaRPr lang="en-IN" sz="2200" b="1" dirty="0">
              <a:solidFill>
                <a:srgbClr val="0EA5A4"/>
              </a:solidFill>
            </a:endParaRPr>
          </a:p>
        </p:txBody>
      </p:sp>
      <p:sp>
        <p:nvSpPr>
          <p:cNvPr id="11" name="TextBox 10">
            <a:extLst>
              <a:ext uri="{FF2B5EF4-FFF2-40B4-BE49-F238E27FC236}">
                <a16:creationId xmlns:a16="http://schemas.microsoft.com/office/drawing/2014/main" id="{B922A5A1-A258-EFF8-BA43-62EF762ECFAD}"/>
              </a:ext>
            </a:extLst>
          </p:cNvPr>
          <p:cNvSpPr txBox="1"/>
          <p:nvPr/>
        </p:nvSpPr>
        <p:spPr>
          <a:xfrm>
            <a:off x="714703" y="3252028"/>
            <a:ext cx="10762594" cy="1431161"/>
          </a:xfrm>
          <a:prstGeom prst="rect">
            <a:avLst/>
          </a:prstGeom>
          <a:noFill/>
        </p:spPr>
        <p:txBody>
          <a:bodyPr wrap="square">
            <a:spAutoFit/>
          </a:bodyPr>
          <a:lstStyle/>
          <a:p>
            <a:pPr marL="285750" indent="-285750">
              <a:spcBef>
                <a:spcPts val="600"/>
              </a:spcBef>
              <a:buFont typeface="Arial" panose="020B0604020202020204" pitchFamily="34" charset="0"/>
              <a:buChar char="•"/>
            </a:pPr>
            <a:r>
              <a:rPr lang="en-US" dirty="0">
                <a:solidFill>
                  <a:srgbClr val="475569"/>
                </a:solidFill>
              </a:rPr>
              <a:t>To preprocess and analyze structured and categorical patient data</a:t>
            </a:r>
          </a:p>
          <a:p>
            <a:pPr marL="285750" indent="-285750">
              <a:spcBef>
                <a:spcPts val="600"/>
              </a:spcBef>
              <a:buFont typeface="Arial" panose="020B0604020202020204" pitchFamily="34" charset="0"/>
              <a:buChar char="•"/>
            </a:pPr>
            <a:r>
              <a:rPr lang="en-US" dirty="0">
                <a:solidFill>
                  <a:srgbClr val="475569"/>
                </a:solidFill>
              </a:rPr>
              <a:t>To train and compare 12 classification model</a:t>
            </a:r>
          </a:p>
          <a:p>
            <a:pPr marL="285750" indent="-285750">
              <a:spcBef>
                <a:spcPts val="600"/>
              </a:spcBef>
              <a:buFont typeface="Arial" panose="020B0604020202020204" pitchFamily="34" charset="0"/>
              <a:buChar char="•"/>
            </a:pPr>
            <a:r>
              <a:rPr lang="en-US" dirty="0">
                <a:solidFill>
                  <a:srgbClr val="475569"/>
                </a:solidFill>
              </a:rPr>
              <a:t>To evaluate model performance using </a:t>
            </a:r>
            <a:r>
              <a:rPr lang="en-US" b="1" dirty="0">
                <a:solidFill>
                  <a:srgbClr val="475569"/>
                </a:solidFill>
              </a:rPr>
              <a:t>standard classification metrics</a:t>
            </a:r>
          </a:p>
          <a:p>
            <a:pPr marL="285750" indent="-285750">
              <a:spcBef>
                <a:spcPts val="600"/>
              </a:spcBef>
              <a:buFont typeface="Arial" panose="020B0604020202020204" pitchFamily="34" charset="0"/>
              <a:buChar char="•"/>
            </a:pPr>
            <a:r>
              <a:rPr lang="en-US" dirty="0">
                <a:solidFill>
                  <a:srgbClr val="475569"/>
                </a:solidFill>
              </a:rPr>
              <a:t>To identify the most effective model for disease stage prediction</a:t>
            </a:r>
          </a:p>
        </p:txBody>
      </p:sp>
      <p:sp>
        <p:nvSpPr>
          <p:cNvPr id="14" name="Rectangle 13">
            <a:extLst>
              <a:ext uri="{FF2B5EF4-FFF2-40B4-BE49-F238E27FC236}">
                <a16:creationId xmlns:a16="http://schemas.microsoft.com/office/drawing/2014/main" id="{BDFEC2B5-DD22-0073-1D0C-533669CE8A85}"/>
              </a:ext>
            </a:extLst>
          </p:cNvPr>
          <p:cNvSpPr/>
          <p:nvPr/>
        </p:nvSpPr>
        <p:spPr>
          <a:xfrm>
            <a:off x="1139779" y="5234244"/>
            <a:ext cx="9912442" cy="796413"/>
          </a:xfrm>
          <a:prstGeom prst="rect">
            <a:avLst/>
          </a:prstGeom>
          <a:solidFill>
            <a:srgbClr val="E0F2FE"/>
          </a:solidFill>
          <a:ln>
            <a:solidFill>
              <a:srgbClr val="0EA5A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0F172A"/>
                </a:solidFill>
              </a:rPr>
              <a:t>CatBoost demonstrated strong performance due to its efficient handling of categorical features.</a:t>
            </a:r>
            <a:endParaRPr lang="en-IN" dirty="0">
              <a:solidFill>
                <a:srgbClr val="0F172A"/>
              </a:solidFill>
            </a:endParaRPr>
          </a:p>
        </p:txBody>
      </p:sp>
    </p:spTree>
    <p:extLst>
      <p:ext uri="{BB962C8B-B14F-4D97-AF65-F5344CB8AC3E}">
        <p14:creationId xmlns:p14="http://schemas.microsoft.com/office/powerpoint/2010/main" val="928697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9" grpId="0"/>
      <p:bldP spid="10" grpId="0"/>
      <p:bldP spid="11" grpId="0"/>
      <p:bldP spid="1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a:extLst>
            <a:ext uri="{FF2B5EF4-FFF2-40B4-BE49-F238E27FC236}">
              <a16:creationId xmlns:a16="http://schemas.microsoft.com/office/drawing/2014/main" id="{D3E19C43-50C4-67A9-6E86-038EA765D3E2}"/>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71E0CD68-513D-997D-2C95-F1A5070C9FCB}"/>
              </a:ext>
            </a:extLst>
          </p:cNvPr>
          <p:cNvSpPr/>
          <p:nvPr/>
        </p:nvSpPr>
        <p:spPr>
          <a:xfrm>
            <a:off x="1139779" y="5843206"/>
            <a:ext cx="9912442" cy="796413"/>
          </a:xfrm>
          <a:prstGeom prst="rect">
            <a:avLst/>
          </a:prstGeom>
          <a:solidFill>
            <a:srgbClr val="E0F2FE"/>
          </a:solidFill>
          <a:ln>
            <a:solidFill>
              <a:srgbClr val="0EA5A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0F172A"/>
                </a:solidFill>
              </a:rPr>
              <a:t>The dataset contains a high number of categorical and structured features, making it well-suited for tree-based models such as CatBoost.</a:t>
            </a:r>
            <a:endParaRPr lang="en-IN" dirty="0">
              <a:solidFill>
                <a:srgbClr val="0F172A"/>
              </a:solidFill>
            </a:endParaRPr>
          </a:p>
        </p:txBody>
      </p:sp>
      <p:sp>
        <p:nvSpPr>
          <p:cNvPr id="6" name="TextBox 5">
            <a:extLst>
              <a:ext uri="{FF2B5EF4-FFF2-40B4-BE49-F238E27FC236}">
                <a16:creationId xmlns:a16="http://schemas.microsoft.com/office/drawing/2014/main" id="{94FCEF5D-6D79-D68C-6618-A8BAAF7747DF}"/>
              </a:ext>
            </a:extLst>
          </p:cNvPr>
          <p:cNvSpPr txBox="1"/>
          <p:nvPr/>
        </p:nvSpPr>
        <p:spPr>
          <a:xfrm>
            <a:off x="714703" y="325208"/>
            <a:ext cx="4754406" cy="584775"/>
          </a:xfrm>
          <a:prstGeom prst="rect">
            <a:avLst/>
          </a:prstGeom>
          <a:noFill/>
        </p:spPr>
        <p:txBody>
          <a:bodyPr wrap="square">
            <a:spAutoFit/>
          </a:bodyPr>
          <a:lstStyle/>
          <a:p>
            <a:r>
              <a:rPr lang="en-IN" sz="3200" b="1" dirty="0">
                <a:solidFill>
                  <a:srgbClr val="0F172A"/>
                </a:solidFill>
              </a:rPr>
              <a:t>Dataset Overview</a:t>
            </a:r>
          </a:p>
        </p:txBody>
      </p:sp>
      <p:sp>
        <p:nvSpPr>
          <p:cNvPr id="7" name="TextBox 6">
            <a:extLst>
              <a:ext uri="{FF2B5EF4-FFF2-40B4-BE49-F238E27FC236}">
                <a16:creationId xmlns:a16="http://schemas.microsoft.com/office/drawing/2014/main" id="{45E6DD32-4139-EE36-37C0-49614C89D518}"/>
              </a:ext>
            </a:extLst>
          </p:cNvPr>
          <p:cNvSpPr txBox="1"/>
          <p:nvPr/>
        </p:nvSpPr>
        <p:spPr>
          <a:xfrm>
            <a:off x="714703" y="789987"/>
            <a:ext cx="4754406" cy="430887"/>
          </a:xfrm>
          <a:prstGeom prst="rect">
            <a:avLst/>
          </a:prstGeom>
          <a:noFill/>
        </p:spPr>
        <p:txBody>
          <a:bodyPr wrap="square">
            <a:spAutoFit/>
          </a:bodyPr>
          <a:lstStyle/>
          <a:p>
            <a:r>
              <a:rPr lang="en-IN" sz="2200" dirty="0">
                <a:solidFill>
                  <a:srgbClr val="0EA5A4"/>
                </a:solidFill>
              </a:rPr>
              <a:t>Dataset Description</a:t>
            </a:r>
            <a:endParaRPr lang="en-IN" sz="2200" b="1" dirty="0">
              <a:solidFill>
                <a:srgbClr val="0EA5A4"/>
              </a:solidFill>
            </a:endParaRPr>
          </a:p>
        </p:txBody>
      </p:sp>
      <p:sp>
        <p:nvSpPr>
          <p:cNvPr id="10" name="TextBox 9">
            <a:extLst>
              <a:ext uri="{FF2B5EF4-FFF2-40B4-BE49-F238E27FC236}">
                <a16:creationId xmlns:a16="http://schemas.microsoft.com/office/drawing/2014/main" id="{75F51CD3-2EDC-BDBF-4887-2977C1F02CF8}"/>
              </a:ext>
            </a:extLst>
          </p:cNvPr>
          <p:cNvSpPr txBox="1"/>
          <p:nvPr/>
        </p:nvSpPr>
        <p:spPr>
          <a:xfrm>
            <a:off x="714703" y="2298092"/>
            <a:ext cx="4754406" cy="430887"/>
          </a:xfrm>
          <a:prstGeom prst="rect">
            <a:avLst/>
          </a:prstGeom>
          <a:noFill/>
        </p:spPr>
        <p:txBody>
          <a:bodyPr wrap="square">
            <a:spAutoFit/>
          </a:bodyPr>
          <a:lstStyle/>
          <a:p>
            <a:r>
              <a:rPr lang="en-IN" sz="2200" dirty="0">
                <a:solidFill>
                  <a:srgbClr val="0EA5A4"/>
                </a:solidFill>
              </a:rPr>
              <a:t>Feature Categories</a:t>
            </a:r>
            <a:endParaRPr lang="en-IN" sz="2200" b="1" dirty="0">
              <a:solidFill>
                <a:srgbClr val="0EA5A4"/>
              </a:solidFill>
            </a:endParaRPr>
          </a:p>
        </p:txBody>
      </p:sp>
      <p:sp>
        <p:nvSpPr>
          <p:cNvPr id="11" name="TextBox 10">
            <a:extLst>
              <a:ext uri="{FF2B5EF4-FFF2-40B4-BE49-F238E27FC236}">
                <a16:creationId xmlns:a16="http://schemas.microsoft.com/office/drawing/2014/main" id="{6A5BE85B-6E0F-3443-41D7-9090DB4029B9}"/>
              </a:ext>
            </a:extLst>
          </p:cNvPr>
          <p:cNvSpPr txBox="1"/>
          <p:nvPr/>
        </p:nvSpPr>
        <p:spPr>
          <a:xfrm>
            <a:off x="714703" y="2722802"/>
            <a:ext cx="10762594" cy="2139047"/>
          </a:xfrm>
          <a:prstGeom prst="rect">
            <a:avLst/>
          </a:prstGeom>
          <a:noFill/>
        </p:spPr>
        <p:txBody>
          <a:bodyPr wrap="square">
            <a:spAutoFit/>
          </a:bodyPr>
          <a:lstStyle/>
          <a:p>
            <a:pPr marL="285750" indent="-285750">
              <a:spcBef>
                <a:spcPts val="600"/>
              </a:spcBef>
              <a:buFont typeface="Arial" panose="020B0604020202020204" pitchFamily="34" charset="0"/>
              <a:buChar char="•"/>
            </a:pPr>
            <a:r>
              <a:rPr lang="en-US" dirty="0">
                <a:solidFill>
                  <a:srgbClr val="475569"/>
                </a:solidFill>
              </a:rPr>
              <a:t>Demographic Details: Age, Gender, Ethnicity, Education Level</a:t>
            </a:r>
          </a:p>
          <a:p>
            <a:pPr marL="285750" indent="-285750">
              <a:spcBef>
                <a:spcPts val="600"/>
              </a:spcBef>
              <a:buFont typeface="Arial" panose="020B0604020202020204" pitchFamily="34" charset="0"/>
              <a:buChar char="•"/>
            </a:pPr>
            <a:r>
              <a:rPr lang="en-US" dirty="0">
                <a:solidFill>
                  <a:srgbClr val="475569"/>
                </a:solidFill>
              </a:rPr>
              <a:t>Lifestyle Factors: BMI, Smoking, Alcohol Consumption, Physical Activity, Diet &amp; Sleep Quality</a:t>
            </a:r>
          </a:p>
          <a:p>
            <a:pPr marL="285750" indent="-285750">
              <a:spcBef>
                <a:spcPts val="600"/>
              </a:spcBef>
              <a:buFont typeface="Arial" panose="020B0604020202020204" pitchFamily="34" charset="0"/>
              <a:buChar char="•"/>
            </a:pPr>
            <a:r>
              <a:rPr lang="en-US" dirty="0">
                <a:solidFill>
                  <a:srgbClr val="475569"/>
                </a:solidFill>
              </a:rPr>
              <a:t>Medical History: Family History, Diabetes, Cardiovascular Disease, Hypertension, Depression</a:t>
            </a:r>
          </a:p>
          <a:p>
            <a:pPr marL="285750" indent="-285750">
              <a:spcBef>
                <a:spcPts val="600"/>
              </a:spcBef>
              <a:buFont typeface="Arial" panose="020B0604020202020204" pitchFamily="34" charset="0"/>
              <a:buChar char="•"/>
            </a:pPr>
            <a:r>
              <a:rPr lang="en-US" dirty="0">
                <a:solidFill>
                  <a:srgbClr val="475569"/>
                </a:solidFill>
              </a:rPr>
              <a:t>Clinical Measurements: Blood Pressure and Cholesterol Levels</a:t>
            </a:r>
          </a:p>
          <a:p>
            <a:pPr marL="285750" indent="-285750">
              <a:spcBef>
                <a:spcPts val="600"/>
              </a:spcBef>
              <a:buFont typeface="Arial" panose="020B0604020202020204" pitchFamily="34" charset="0"/>
              <a:buChar char="•"/>
            </a:pPr>
            <a:r>
              <a:rPr lang="en-US" dirty="0">
                <a:solidFill>
                  <a:srgbClr val="475569"/>
                </a:solidFill>
              </a:rPr>
              <a:t>Cognitive &amp; Functional Assessments: MMSE, ADL, Functional Assessment</a:t>
            </a:r>
          </a:p>
          <a:p>
            <a:pPr marL="285750" indent="-285750">
              <a:spcBef>
                <a:spcPts val="600"/>
              </a:spcBef>
              <a:buFont typeface="Arial" panose="020B0604020202020204" pitchFamily="34" charset="0"/>
              <a:buChar char="•"/>
            </a:pPr>
            <a:r>
              <a:rPr lang="en-US" dirty="0">
                <a:solidFill>
                  <a:srgbClr val="475569"/>
                </a:solidFill>
              </a:rPr>
              <a:t>Symptoms: Confusion, Forgetfulness, Disorientation, Behavioral Changes</a:t>
            </a:r>
          </a:p>
        </p:txBody>
      </p:sp>
      <p:sp>
        <p:nvSpPr>
          <p:cNvPr id="2" name="TextBox 1">
            <a:extLst>
              <a:ext uri="{FF2B5EF4-FFF2-40B4-BE49-F238E27FC236}">
                <a16:creationId xmlns:a16="http://schemas.microsoft.com/office/drawing/2014/main" id="{18AE76D3-884F-1367-23FB-51944CA83B1F}"/>
              </a:ext>
            </a:extLst>
          </p:cNvPr>
          <p:cNvSpPr txBox="1"/>
          <p:nvPr/>
        </p:nvSpPr>
        <p:spPr>
          <a:xfrm>
            <a:off x="714703" y="1220874"/>
            <a:ext cx="10762594" cy="1077218"/>
          </a:xfrm>
          <a:prstGeom prst="rect">
            <a:avLst/>
          </a:prstGeom>
          <a:noFill/>
        </p:spPr>
        <p:txBody>
          <a:bodyPr wrap="square">
            <a:spAutoFit/>
          </a:bodyPr>
          <a:lstStyle/>
          <a:p>
            <a:pPr marL="285750" indent="-285750">
              <a:spcBef>
                <a:spcPts val="600"/>
              </a:spcBef>
              <a:buFont typeface="Arial" panose="020B0604020202020204" pitchFamily="34" charset="0"/>
              <a:buChar char="•"/>
            </a:pPr>
            <a:r>
              <a:rPr lang="en-US" dirty="0">
                <a:solidFill>
                  <a:srgbClr val="475569"/>
                </a:solidFill>
              </a:rPr>
              <a:t>The dataset contains records of 2,149 patients aged 60–90 years</a:t>
            </a:r>
          </a:p>
          <a:p>
            <a:pPr marL="285750" indent="-285750">
              <a:spcBef>
                <a:spcPts val="600"/>
              </a:spcBef>
              <a:buFont typeface="Arial" panose="020B0604020202020204" pitchFamily="34" charset="0"/>
              <a:buChar char="•"/>
            </a:pPr>
            <a:r>
              <a:rPr lang="en-US" dirty="0">
                <a:solidFill>
                  <a:srgbClr val="475569"/>
                </a:solidFill>
              </a:rPr>
              <a:t>Each record represents a patient with demographic, lifestyle, medical, clinical, and cognitive attributes</a:t>
            </a:r>
          </a:p>
          <a:p>
            <a:pPr marL="285750" indent="-285750">
              <a:spcBef>
                <a:spcPts val="600"/>
              </a:spcBef>
              <a:buFont typeface="Arial" panose="020B0604020202020204" pitchFamily="34" charset="0"/>
              <a:buChar char="•"/>
            </a:pPr>
            <a:r>
              <a:rPr lang="en-US" dirty="0">
                <a:solidFill>
                  <a:srgbClr val="475569"/>
                </a:solidFill>
              </a:rPr>
              <a:t>The dataset is designed for supervised machine learning classification</a:t>
            </a:r>
          </a:p>
        </p:txBody>
      </p:sp>
      <p:sp>
        <p:nvSpPr>
          <p:cNvPr id="13" name="TextBox 12">
            <a:extLst>
              <a:ext uri="{FF2B5EF4-FFF2-40B4-BE49-F238E27FC236}">
                <a16:creationId xmlns:a16="http://schemas.microsoft.com/office/drawing/2014/main" id="{C29CEC53-5CA3-F887-B0FC-016ED964FEE0}"/>
              </a:ext>
            </a:extLst>
          </p:cNvPr>
          <p:cNvSpPr txBox="1"/>
          <p:nvPr/>
        </p:nvSpPr>
        <p:spPr>
          <a:xfrm>
            <a:off x="714703" y="4819809"/>
            <a:ext cx="6096000" cy="923330"/>
          </a:xfrm>
          <a:prstGeom prst="rect">
            <a:avLst/>
          </a:prstGeom>
          <a:noFill/>
        </p:spPr>
        <p:txBody>
          <a:bodyPr wrap="square">
            <a:spAutoFit/>
          </a:bodyPr>
          <a:lstStyle/>
          <a:p>
            <a:r>
              <a:rPr lang="en-IN" dirty="0">
                <a:solidFill>
                  <a:srgbClr val="0EA5A4"/>
                </a:solidFill>
              </a:rPr>
              <a:t>Target Variable: 	</a:t>
            </a:r>
            <a:r>
              <a:rPr lang="en-IN" dirty="0">
                <a:solidFill>
                  <a:srgbClr val="475569"/>
                </a:solidFill>
              </a:rPr>
              <a:t>	Diagnosis</a:t>
            </a:r>
          </a:p>
          <a:p>
            <a:r>
              <a:rPr lang="en-IN" dirty="0">
                <a:solidFill>
                  <a:srgbClr val="0EA5A4"/>
                </a:solidFill>
              </a:rPr>
              <a:t>Binary classification:</a:t>
            </a:r>
            <a:r>
              <a:rPr lang="en-IN" dirty="0">
                <a:solidFill>
                  <a:srgbClr val="475569"/>
                </a:solidFill>
              </a:rPr>
              <a:t>	0 → No Alzheimer’s Disease</a:t>
            </a:r>
          </a:p>
          <a:p>
            <a:pPr lvl="1"/>
            <a:r>
              <a:rPr lang="en-IN" dirty="0">
                <a:solidFill>
                  <a:srgbClr val="475569"/>
                </a:solidFill>
              </a:rPr>
              <a:t>			1 → Alzheimer’s Disease</a:t>
            </a:r>
          </a:p>
        </p:txBody>
      </p:sp>
    </p:spTree>
    <p:extLst>
      <p:ext uri="{BB962C8B-B14F-4D97-AF65-F5344CB8AC3E}">
        <p14:creationId xmlns:p14="http://schemas.microsoft.com/office/powerpoint/2010/main" val="1308134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fade">
                                      <p:cBhvr>
                                        <p:cTn id="27" dur="500"/>
                                        <p:tgtEl>
                                          <p:spTgt spid="2"/>
                                        </p:tgtEl>
                                      </p:cBhvr>
                                    </p:animEffect>
                                  </p:childTnLst>
                                </p:cTn>
                              </p:par>
                            </p:childTnLst>
                          </p:cTn>
                        </p:par>
                        <p:par>
                          <p:cTn id="28" fill="hold">
                            <p:stCondLst>
                              <p:cond delay="3000"/>
                            </p:stCondLst>
                            <p:childTnLst>
                              <p:par>
                                <p:cTn id="29" presetID="10" presetClass="entr" presetSubtype="0" fill="hold" grpId="0" nodeType="after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6" grpId="0"/>
      <p:bldP spid="7" grpId="0"/>
      <p:bldP spid="10" grpId="0"/>
      <p:bldP spid="11" grpId="0"/>
      <p:bldP spid="2" grpId="0"/>
      <p:bldP spid="13"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D9E65CC-34E1-6B77-C750-4CB44A8EC98E}"/>
              </a:ext>
            </a:extLst>
          </p:cNvPr>
          <p:cNvSpPr txBox="1"/>
          <p:nvPr/>
        </p:nvSpPr>
        <p:spPr>
          <a:xfrm>
            <a:off x="714701" y="459874"/>
            <a:ext cx="4754406" cy="646331"/>
          </a:xfrm>
          <a:prstGeom prst="rect">
            <a:avLst/>
          </a:prstGeom>
          <a:noFill/>
        </p:spPr>
        <p:txBody>
          <a:bodyPr wrap="square">
            <a:spAutoFit/>
          </a:bodyPr>
          <a:lstStyle/>
          <a:p>
            <a:r>
              <a:rPr lang="en-IN" sz="3600" b="1" dirty="0">
                <a:solidFill>
                  <a:srgbClr val="0F172A"/>
                </a:solidFill>
              </a:rPr>
              <a:t>Data Preprocessing</a:t>
            </a:r>
          </a:p>
        </p:txBody>
      </p:sp>
      <p:sp>
        <p:nvSpPr>
          <p:cNvPr id="6" name="TextBox 5">
            <a:extLst>
              <a:ext uri="{FF2B5EF4-FFF2-40B4-BE49-F238E27FC236}">
                <a16:creationId xmlns:a16="http://schemas.microsoft.com/office/drawing/2014/main" id="{AA5E983C-40BD-AD33-94EE-2BEB4ACD9FBC}"/>
              </a:ext>
            </a:extLst>
          </p:cNvPr>
          <p:cNvSpPr txBox="1"/>
          <p:nvPr/>
        </p:nvSpPr>
        <p:spPr>
          <a:xfrm>
            <a:off x="714701" y="1058926"/>
            <a:ext cx="4235669" cy="430887"/>
          </a:xfrm>
          <a:prstGeom prst="rect">
            <a:avLst/>
          </a:prstGeom>
          <a:noFill/>
        </p:spPr>
        <p:txBody>
          <a:bodyPr wrap="square">
            <a:spAutoFit/>
          </a:bodyPr>
          <a:lstStyle/>
          <a:p>
            <a:r>
              <a:rPr lang="en-IN" sz="2200" dirty="0">
                <a:solidFill>
                  <a:srgbClr val="0EA5A4"/>
                </a:solidFill>
              </a:rPr>
              <a:t>Purpose of Data Preprocessing</a:t>
            </a:r>
          </a:p>
        </p:txBody>
      </p:sp>
      <p:sp>
        <p:nvSpPr>
          <p:cNvPr id="8" name="TextBox 7">
            <a:extLst>
              <a:ext uri="{FF2B5EF4-FFF2-40B4-BE49-F238E27FC236}">
                <a16:creationId xmlns:a16="http://schemas.microsoft.com/office/drawing/2014/main" id="{6E127938-69DA-BD6F-2993-7B27F889BC77}"/>
              </a:ext>
            </a:extLst>
          </p:cNvPr>
          <p:cNvSpPr txBox="1"/>
          <p:nvPr/>
        </p:nvSpPr>
        <p:spPr>
          <a:xfrm>
            <a:off x="714702" y="1489813"/>
            <a:ext cx="7336221" cy="1077218"/>
          </a:xfrm>
          <a:prstGeom prst="rect">
            <a:avLst/>
          </a:prstGeom>
          <a:noFill/>
        </p:spPr>
        <p:txBody>
          <a:bodyPr wrap="square">
            <a:spAutoFit/>
          </a:bodyPr>
          <a:lstStyle/>
          <a:p>
            <a:pPr marL="285750" indent="-285750">
              <a:spcBef>
                <a:spcPts val="600"/>
              </a:spcBef>
              <a:buFont typeface="Arial" panose="020B0604020202020204" pitchFamily="34" charset="0"/>
              <a:buChar char="•"/>
            </a:pPr>
            <a:r>
              <a:rPr lang="en-US" dirty="0">
                <a:solidFill>
                  <a:srgbClr val="475569"/>
                </a:solidFill>
              </a:rPr>
              <a:t>To transform raw patient data into a machine-learning-ready format</a:t>
            </a:r>
          </a:p>
          <a:p>
            <a:pPr marL="285750" indent="-285750">
              <a:spcBef>
                <a:spcPts val="600"/>
              </a:spcBef>
              <a:buFont typeface="Arial" panose="020B0604020202020204" pitchFamily="34" charset="0"/>
              <a:buChar char="•"/>
            </a:pPr>
            <a:r>
              <a:rPr lang="en-US" dirty="0">
                <a:solidFill>
                  <a:srgbClr val="475569"/>
                </a:solidFill>
              </a:rPr>
              <a:t>To ensure data consistency, quality, and reliability</a:t>
            </a:r>
          </a:p>
          <a:p>
            <a:pPr marL="285750" indent="-285750">
              <a:spcBef>
                <a:spcPts val="600"/>
              </a:spcBef>
              <a:buFont typeface="Arial" panose="020B0604020202020204" pitchFamily="34" charset="0"/>
              <a:buChar char="•"/>
            </a:pPr>
            <a:r>
              <a:rPr lang="en-US" dirty="0">
                <a:solidFill>
                  <a:srgbClr val="475569"/>
                </a:solidFill>
              </a:rPr>
              <a:t>To improve model training and generalization performance</a:t>
            </a:r>
          </a:p>
        </p:txBody>
      </p:sp>
      <p:sp>
        <p:nvSpPr>
          <p:cNvPr id="13" name="TextBox 12">
            <a:extLst>
              <a:ext uri="{FF2B5EF4-FFF2-40B4-BE49-F238E27FC236}">
                <a16:creationId xmlns:a16="http://schemas.microsoft.com/office/drawing/2014/main" id="{EF1D5EDF-C9FB-5D9F-D250-C6D4B55C3B52}"/>
              </a:ext>
            </a:extLst>
          </p:cNvPr>
          <p:cNvSpPr txBox="1"/>
          <p:nvPr/>
        </p:nvSpPr>
        <p:spPr>
          <a:xfrm>
            <a:off x="714701" y="2514481"/>
            <a:ext cx="4414345" cy="430887"/>
          </a:xfrm>
          <a:prstGeom prst="rect">
            <a:avLst/>
          </a:prstGeom>
          <a:noFill/>
        </p:spPr>
        <p:txBody>
          <a:bodyPr wrap="square">
            <a:spAutoFit/>
          </a:bodyPr>
          <a:lstStyle/>
          <a:p>
            <a:r>
              <a:rPr lang="en-IN" sz="2200" dirty="0">
                <a:solidFill>
                  <a:srgbClr val="0EA5A4"/>
                </a:solidFill>
              </a:rPr>
              <a:t>Preprocessing Steps Performed</a:t>
            </a:r>
          </a:p>
        </p:txBody>
      </p:sp>
      <p:sp>
        <p:nvSpPr>
          <p:cNvPr id="14" name="TextBox 13">
            <a:extLst>
              <a:ext uri="{FF2B5EF4-FFF2-40B4-BE49-F238E27FC236}">
                <a16:creationId xmlns:a16="http://schemas.microsoft.com/office/drawing/2014/main" id="{07CFBFA2-4442-63AB-1CC0-A0D581736F17}"/>
              </a:ext>
            </a:extLst>
          </p:cNvPr>
          <p:cNvSpPr txBox="1"/>
          <p:nvPr/>
        </p:nvSpPr>
        <p:spPr>
          <a:xfrm>
            <a:off x="714703" y="2961512"/>
            <a:ext cx="10972800" cy="2539157"/>
          </a:xfrm>
          <a:prstGeom prst="rect">
            <a:avLst/>
          </a:prstGeom>
          <a:noFill/>
        </p:spPr>
        <p:txBody>
          <a:bodyPr wrap="square">
            <a:spAutoFit/>
          </a:bodyPr>
          <a:lstStyle/>
          <a:p>
            <a:pPr marL="285750" indent="-285750">
              <a:spcBef>
                <a:spcPts val="600"/>
              </a:spcBef>
              <a:buFont typeface="Arial" panose="020B0604020202020204" pitchFamily="34" charset="0"/>
              <a:buChar char="•"/>
            </a:pPr>
            <a:r>
              <a:rPr lang="en-US" dirty="0">
                <a:solidFill>
                  <a:srgbClr val="475569"/>
                </a:solidFill>
              </a:rPr>
              <a:t>Handling Missing Values:</a:t>
            </a:r>
            <a:br>
              <a:rPr lang="en-US" dirty="0">
                <a:solidFill>
                  <a:srgbClr val="475569"/>
                </a:solidFill>
              </a:rPr>
            </a:br>
            <a:r>
              <a:rPr lang="en-US" dirty="0">
                <a:solidFill>
                  <a:srgbClr val="475569"/>
                </a:solidFill>
              </a:rPr>
              <a:t>Missing or inconsistent values were identified and handled to maintain data integrity</a:t>
            </a:r>
          </a:p>
          <a:p>
            <a:pPr marL="285750" indent="-285750">
              <a:spcBef>
                <a:spcPts val="600"/>
              </a:spcBef>
              <a:buFont typeface="Arial" panose="020B0604020202020204" pitchFamily="34" charset="0"/>
              <a:buChar char="•"/>
            </a:pPr>
            <a:r>
              <a:rPr lang="en-US" dirty="0">
                <a:solidFill>
                  <a:srgbClr val="475569"/>
                </a:solidFill>
              </a:rPr>
              <a:t>Encoding Categorical Variables:</a:t>
            </a:r>
            <a:br>
              <a:rPr lang="en-US" dirty="0">
                <a:solidFill>
                  <a:srgbClr val="475569"/>
                </a:solidFill>
              </a:rPr>
            </a:br>
            <a:r>
              <a:rPr lang="en-US" dirty="0">
                <a:solidFill>
                  <a:srgbClr val="475569"/>
                </a:solidFill>
              </a:rPr>
              <a:t>Categorical features such as Gender, Ethnicity, and Education Level were encoded for model compatibility</a:t>
            </a:r>
          </a:p>
          <a:p>
            <a:pPr marL="285750" indent="-285750">
              <a:spcBef>
                <a:spcPts val="600"/>
              </a:spcBef>
              <a:buFont typeface="Arial" panose="020B0604020202020204" pitchFamily="34" charset="0"/>
              <a:buChar char="•"/>
            </a:pPr>
            <a:r>
              <a:rPr lang="en-US" dirty="0">
                <a:solidFill>
                  <a:srgbClr val="475569"/>
                </a:solidFill>
              </a:rPr>
              <a:t>Feature Scaling:</a:t>
            </a:r>
            <a:br>
              <a:rPr lang="en-US" dirty="0">
                <a:solidFill>
                  <a:srgbClr val="475569"/>
                </a:solidFill>
              </a:rPr>
            </a:br>
            <a:r>
              <a:rPr lang="en-US" dirty="0">
                <a:solidFill>
                  <a:srgbClr val="475569"/>
                </a:solidFill>
              </a:rPr>
              <a:t>Numerical features were scaled where required to maintain uniform value ranges</a:t>
            </a:r>
          </a:p>
          <a:p>
            <a:pPr marL="285750" indent="-285750">
              <a:spcBef>
                <a:spcPts val="600"/>
              </a:spcBef>
              <a:buFont typeface="Arial" panose="020B0604020202020204" pitchFamily="34" charset="0"/>
              <a:buChar char="•"/>
            </a:pPr>
            <a:r>
              <a:rPr lang="en-US" dirty="0">
                <a:solidFill>
                  <a:srgbClr val="475569"/>
                </a:solidFill>
              </a:rPr>
              <a:t>Feature Selection &amp; Cleaning:</a:t>
            </a:r>
            <a:br>
              <a:rPr lang="en-US" dirty="0">
                <a:solidFill>
                  <a:srgbClr val="475569"/>
                </a:solidFill>
              </a:rPr>
            </a:br>
            <a:r>
              <a:rPr lang="en-US" dirty="0">
                <a:solidFill>
                  <a:srgbClr val="475569"/>
                </a:solidFill>
              </a:rPr>
              <a:t>Irrelevant and confidential fields (e.g., </a:t>
            </a:r>
            <a:r>
              <a:rPr lang="en-US" dirty="0" err="1">
                <a:solidFill>
                  <a:srgbClr val="475569"/>
                </a:solidFill>
              </a:rPr>
              <a:t>DoctorInCharge</a:t>
            </a:r>
            <a:r>
              <a:rPr lang="en-US" dirty="0">
                <a:solidFill>
                  <a:srgbClr val="475569"/>
                </a:solidFill>
              </a:rPr>
              <a:t>) were removed from the dataset</a:t>
            </a:r>
          </a:p>
        </p:txBody>
      </p:sp>
      <p:sp>
        <p:nvSpPr>
          <p:cNvPr id="17" name="Rectangle 16">
            <a:extLst>
              <a:ext uri="{FF2B5EF4-FFF2-40B4-BE49-F238E27FC236}">
                <a16:creationId xmlns:a16="http://schemas.microsoft.com/office/drawing/2014/main" id="{C4271FDF-4A8F-C81E-1A17-900A9B64297F}"/>
              </a:ext>
            </a:extLst>
          </p:cNvPr>
          <p:cNvSpPr/>
          <p:nvPr/>
        </p:nvSpPr>
        <p:spPr>
          <a:xfrm>
            <a:off x="1139779" y="5621554"/>
            <a:ext cx="9912442" cy="796413"/>
          </a:xfrm>
          <a:prstGeom prst="rect">
            <a:avLst/>
          </a:prstGeom>
          <a:solidFill>
            <a:srgbClr val="E0F2FE"/>
          </a:solidFill>
          <a:ln>
            <a:solidFill>
              <a:srgbClr val="0EA5A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0F172A"/>
                </a:solidFill>
              </a:rPr>
              <a:t>Preprocessing is performed independently of any specific model to ensure a fair comparison across multiple algorithms.</a:t>
            </a:r>
            <a:endParaRPr lang="en-IN" dirty="0">
              <a:solidFill>
                <a:srgbClr val="0F172A"/>
              </a:solidFill>
            </a:endParaRPr>
          </a:p>
        </p:txBody>
      </p:sp>
    </p:spTree>
    <p:extLst>
      <p:ext uri="{BB962C8B-B14F-4D97-AF65-F5344CB8AC3E}">
        <p14:creationId xmlns:p14="http://schemas.microsoft.com/office/powerpoint/2010/main" val="207044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500"/>
                                        <p:tgtEl>
                                          <p:spTgt spid="13"/>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500"/>
                                        <p:tgtEl>
                                          <p:spTgt spid="14"/>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8" grpId="0"/>
      <p:bldP spid="13" grpId="0"/>
      <p:bldP spid="14" grpId="0"/>
      <p:bldP spid="1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a:extLst>
            <a:ext uri="{FF2B5EF4-FFF2-40B4-BE49-F238E27FC236}">
              <a16:creationId xmlns:a16="http://schemas.microsoft.com/office/drawing/2014/main" id="{D1B90F9B-252D-5204-D594-9AADE51C7F4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E9E9E5A-E174-8140-1EA5-F2434BECC41B}"/>
              </a:ext>
            </a:extLst>
          </p:cNvPr>
          <p:cNvSpPr txBox="1"/>
          <p:nvPr/>
        </p:nvSpPr>
        <p:spPr>
          <a:xfrm>
            <a:off x="714701" y="1576727"/>
            <a:ext cx="6999892" cy="646331"/>
          </a:xfrm>
          <a:prstGeom prst="rect">
            <a:avLst/>
          </a:prstGeom>
          <a:noFill/>
        </p:spPr>
        <p:txBody>
          <a:bodyPr wrap="square">
            <a:spAutoFit/>
          </a:bodyPr>
          <a:lstStyle/>
          <a:p>
            <a:r>
              <a:rPr lang="en-IN" sz="3600" b="1" dirty="0">
                <a:solidFill>
                  <a:srgbClr val="0F172A"/>
                </a:solidFill>
              </a:rPr>
              <a:t>Exploratory Data Analysis (EDA)</a:t>
            </a:r>
          </a:p>
        </p:txBody>
      </p:sp>
      <p:sp>
        <p:nvSpPr>
          <p:cNvPr id="6" name="TextBox 5">
            <a:extLst>
              <a:ext uri="{FF2B5EF4-FFF2-40B4-BE49-F238E27FC236}">
                <a16:creationId xmlns:a16="http://schemas.microsoft.com/office/drawing/2014/main" id="{6545985F-8F72-5E3A-A5C6-63C384D1D3D8}"/>
              </a:ext>
            </a:extLst>
          </p:cNvPr>
          <p:cNvSpPr txBox="1"/>
          <p:nvPr/>
        </p:nvSpPr>
        <p:spPr>
          <a:xfrm>
            <a:off x="714701" y="2761667"/>
            <a:ext cx="5381299" cy="430887"/>
          </a:xfrm>
          <a:prstGeom prst="rect">
            <a:avLst/>
          </a:prstGeom>
          <a:noFill/>
        </p:spPr>
        <p:txBody>
          <a:bodyPr wrap="square">
            <a:spAutoFit/>
          </a:bodyPr>
          <a:lstStyle/>
          <a:p>
            <a:r>
              <a:rPr lang="en-US" sz="2200" dirty="0">
                <a:solidFill>
                  <a:srgbClr val="0EA5A4"/>
                </a:solidFill>
              </a:rPr>
              <a:t>Why Exploratory Data Analysis is Important</a:t>
            </a:r>
            <a:endParaRPr lang="en-IN" sz="2200" dirty="0">
              <a:solidFill>
                <a:srgbClr val="0EA5A4"/>
              </a:solidFill>
            </a:endParaRPr>
          </a:p>
        </p:txBody>
      </p:sp>
      <p:sp>
        <p:nvSpPr>
          <p:cNvPr id="8" name="TextBox 7">
            <a:extLst>
              <a:ext uri="{FF2B5EF4-FFF2-40B4-BE49-F238E27FC236}">
                <a16:creationId xmlns:a16="http://schemas.microsoft.com/office/drawing/2014/main" id="{B4AD43B1-9189-B677-2AB7-A45C9DC9B2BB}"/>
              </a:ext>
            </a:extLst>
          </p:cNvPr>
          <p:cNvSpPr txBox="1"/>
          <p:nvPr/>
        </p:nvSpPr>
        <p:spPr>
          <a:xfrm>
            <a:off x="714703" y="3192554"/>
            <a:ext cx="7714595" cy="1077218"/>
          </a:xfrm>
          <a:prstGeom prst="rect">
            <a:avLst/>
          </a:prstGeom>
          <a:noFill/>
        </p:spPr>
        <p:txBody>
          <a:bodyPr wrap="square">
            <a:spAutoFit/>
          </a:bodyPr>
          <a:lstStyle/>
          <a:p>
            <a:pPr marL="285750" indent="-285750">
              <a:spcBef>
                <a:spcPts val="600"/>
              </a:spcBef>
              <a:buFont typeface="Arial" panose="020B0604020202020204" pitchFamily="34" charset="0"/>
              <a:buChar char="•"/>
            </a:pPr>
            <a:r>
              <a:rPr lang="en-US" dirty="0">
                <a:solidFill>
                  <a:srgbClr val="475569"/>
                </a:solidFill>
              </a:rPr>
              <a:t>To understand the distribution and characteristics of the dataset</a:t>
            </a:r>
          </a:p>
          <a:p>
            <a:pPr marL="285750" indent="-285750">
              <a:spcBef>
                <a:spcPts val="600"/>
              </a:spcBef>
              <a:buFont typeface="Arial" panose="020B0604020202020204" pitchFamily="34" charset="0"/>
              <a:buChar char="•"/>
            </a:pPr>
            <a:r>
              <a:rPr lang="en-US" dirty="0">
                <a:solidFill>
                  <a:srgbClr val="475569"/>
                </a:solidFill>
              </a:rPr>
              <a:t>To identify patterns, correlations, and anomalies in features</a:t>
            </a:r>
          </a:p>
          <a:p>
            <a:pPr marL="285750" indent="-285750">
              <a:spcBef>
                <a:spcPts val="600"/>
              </a:spcBef>
              <a:buFont typeface="Arial" panose="020B0604020202020204" pitchFamily="34" charset="0"/>
              <a:buChar char="•"/>
            </a:pPr>
            <a:r>
              <a:rPr lang="en-US" dirty="0">
                <a:solidFill>
                  <a:srgbClr val="475569"/>
                </a:solidFill>
              </a:rPr>
              <a:t>To derive insights that inform preprocessing and model selection</a:t>
            </a:r>
          </a:p>
        </p:txBody>
      </p:sp>
      <p:sp>
        <p:nvSpPr>
          <p:cNvPr id="30" name="TextBox 29">
            <a:extLst>
              <a:ext uri="{FF2B5EF4-FFF2-40B4-BE49-F238E27FC236}">
                <a16:creationId xmlns:a16="http://schemas.microsoft.com/office/drawing/2014/main" id="{177D260A-EF4C-41EB-07AC-548ED1F13978}"/>
              </a:ext>
            </a:extLst>
          </p:cNvPr>
          <p:cNvSpPr txBox="1"/>
          <p:nvPr/>
        </p:nvSpPr>
        <p:spPr>
          <a:xfrm>
            <a:off x="4214647" y="5925234"/>
            <a:ext cx="7567448" cy="369332"/>
          </a:xfrm>
          <a:prstGeom prst="rect">
            <a:avLst/>
          </a:prstGeom>
          <a:noFill/>
        </p:spPr>
        <p:txBody>
          <a:bodyPr wrap="square">
            <a:spAutoFit/>
          </a:bodyPr>
          <a:lstStyle/>
          <a:p>
            <a:r>
              <a:rPr lang="en-US" dirty="0">
                <a:solidFill>
                  <a:srgbClr val="0EA5A4"/>
                </a:solidFill>
              </a:rPr>
              <a:t>The following slides present key EDA findings using selected visualizations.</a:t>
            </a:r>
            <a:endParaRPr lang="en-IN" dirty="0">
              <a:solidFill>
                <a:srgbClr val="0EA5A4"/>
              </a:solidFill>
            </a:endParaRPr>
          </a:p>
        </p:txBody>
      </p:sp>
    </p:spTree>
    <p:extLst>
      <p:ext uri="{BB962C8B-B14F-4D97-AF65-F5344CB8AC3E}">
        <p14:creationId xmlns:p14="http://schemas.microsoft.com/office/powerpoint/2010/main" val="32727536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fade">
                                      <p:cBhvr>
                                        <p:cTn id="19"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8" grpId="0"/>
      <p:bldP spid="3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E8566EF-45F1-9C6A-1613-643797824001}"/>
              </a:ext>
            </a:extLst>
          </p:cNvPr>
          <p:cNvSpPr/>
          <p:nvPr/>
        </p:nvSpPr>
        <p:spPr>
          <a:xfrm>
            <a:off x="2660070" y="5230641"/>
            <a:ext cx="6871859" cy="1035829"/>
          </a:xfrm>
          <a:prstGeom prst="rect">
            <a:avLst/>
          </a:prstGeom>
          <a:solidFill>
            <a:srgbClr val="E0F2FE"/>
          </a:solidFill>
          <a:ln>
            <a:solidFill>
              <a:srgbClr val="0EA5A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0F172A"/>
                </a:solidFill>
              </a:rPr>
              <a:t>Age is shown as a representative numerical feature. Similar distribution and outlier analyses were performed for all numerical variables during EDA.</a:t>
            </a:r>
            <a:endParaRPr lang="en-IN" dirty="0">
              <a:solidFill>
                <a:srgbClr val="0F172A"/>
              </a:solidFill>
            </a:endParaRPr>
          </a:p>
        </p:txBody>
      </p:sp>
      <p:pic>
        <p:nvPicPr>
          <p:cNvPr id="25" name="Picture 24" descr="A graph with a red rectangular bar&#10;&#10;AI-generated content may be incorrect.">
            <a:extLst>
              <a:ext uri="{FF2B5EF4-FFF2-40B4-BE49-F238E27FC236}">
                <a16:creationId xmlns:a16="http://schemas.microsoft.com/office/drawing/2014/main" id="{C0EF87C3-9DA6-20B8-105E-CF3F912102C3}"/>
              </a:ext>
            </a:extLst>
          </p:cNvPr>
          <p:cNvPicPr>
            <a:picLocks noChangeAspect="1"/>
          </p:cNvPicPr>
          <p:nvPr/>
        </p:nvPicPr>
        <p:blipFill>
          <a:blip r:embed="rId3"/>
          <a:srcRect r="32979"/>
          <a:stretch>
            <a:fillRect/>
          </a:stretch>
        </p:blipFill>
        <p:spPr>
          <a:xfrm>
            <a:off x="4696207" y="1907939"/>
            <a:ext cx="7159462" cy="2941515"/>
          </a:xfrm>
          <a:prstGeom prst="rect">
            <a:avLst/>
          </a:prstGeom>
        </p:spPr>
      </p:pic>
      <p:sp>
        <p:nvSpPr>
          <p:cNvPr id="26" name="TextBox 25">
            <a:extLst>
              <a:ext uri="{FF2B5EF4-FFF2-40B4-BE49-F238E27FC236}">
                <a16:creationId xmlns:a16="http://schemas.microsoft.com/office/drawing/2014/main" id="{797F917A-0772-760F-2ECE-171A12053E3F}"/>
              </a:ext>
            </a:extLst>
          </p:cNvPr>
          <p:cNvSpPr txBox="1"/>
          <p:nvPr/>
        </p:nvSpPr>
        <p:spPr>
          <a:xfrm>
            <a:off x="754828" y="880421"/>
            <a:ext cx="10249503" cy="646331"/>
          </a:xfrm>
          <a:prstGeom prst="rect">
            <a:avLst/>
          </a:prstGeom>
          <a:noFill/>
        </p:spPr>
        <p:txBody>
          <a:bodyPr wrap="square">
            <a:spAutoFit/>
          </a:bodyPr>
          <a:lstStyle/>
          <a:p>
            <a:r>
              <a:rPr lang="en-US" sz="3600" b="1" dirty="0">
                <a:solidFill>
                  <a:srgbClr val="0F172A"/>
                </a:solidFill>
              </a:rPr>
              <a:t>Numerical Feature Analysis – </a:t>
            </a:r>
            <a:r>
              <a:rPr lang="en-US" sz="2400" dirty="0">
                <a:solidFill>
                  <a:srgbClr val="0F172A"/>
                </a:solidFill>
              </a:rPr>
              <a:t>Age (Representative Example)</a:t>
            </a:r>
            <a:endParaRPr lang="en-IN" sz="3600" dirty="0">
              <a:solidFill>
                <a:srgbClr val="0F172A"/>
              </a:solidFill>
            </a:endParaRPr>
          </a:p>
        </p:txBody>
      </p:sp>
      <p:sp>
        <p:nvSpPr>
          <p:cNvPr id="29" name="TextBox 28">
            <a:extLst>
              <a:ext uri="{FF2B5EF4-FFF2-40B4-BE49-F238E27FC236}">
                <a16:creationId xmlns:a16="http://schemas.microsoft.com/office/drawing/2014/main" id="{19F69292-E093-B94E-9F6D-C3AC692879CF}"/>
              </a:ext>
            </a:extLst>
          </p:cNvPr>
          <p:cNvSpPr txBox="1"/>
          <p:nvPr/>
        </p:nvSpPr>
        <p:spPr>
          <a:xfrm>
            <a:off x="754828" y="1907939"/>
            <a:ext cx="3941379" cy="1477328"/>
          </a:xfrm>
          <a:prstGeom prst="rect">
            <a:avLst/>
          </a:prstGeom>
          <a:noFill/>
        </p:spPr>
        <p:txBody>
          <a:bodyPr wrap="square" rtlCol="0">
            <a:spAutoFit/>
          </a:bodyPr>
          <a:lstStyle/>
          <a:p>
            <a:r>
              <a:rPr lang="en-US" b="1" dirty="0">
                <a:solidFill>
                  <a:srgbClr val="0EA5A4"/>
                </a:solidFill>
              </a:rPr>
              <a:t>Key Observations</a:t>
            </a:r>
            <a:endParaRPr lang="en-US" dirty="0">
              <a:solidFill>
                <a:srgbClr val="0EA5A4"/>
              </a:solidFill>
            </a:endParaRPr>
          </a:p>
          <a:p>
            <a:pPr marL="285750" indent="-285750">
              <a:buFont typeface="Arial" panose="020B0604020202020204" pitchFamily="34" charset="0"/>
              <a:buChar char="•"/>
            </a:pPr>
            <a:r>
              <a:rPr lang="en-US" dirty="0">
                <a:solidFill>
                  <a:srgbClr val="475569"/>
                </a:solidFill>
              </a:rPr>
              <a:t>Age values are well distributed within the expected range</a:t>
            </a:r>
          </a:p>
          <a:p>
            <a:pPr marL="285750" indent="-285750">
              <a:buFont typeface="Arial" panose="020B0604020202020204" pitchFamily="34" charset="0"/>
              <a:buChar char="•"/>
            </a:pPr>
            <a:r>
              <a:rPr lang="en-US" dirty="0">
                <a:solidFill>
                  <a:srgbClr val="475569"/>
                </a:solidFill>
              </a:rPr>
              <a:t>No extreme outliers that require removal</a:t>
            </a:r>
          </a:p>
        </p:txBody>
      </p:sp>
    </p:spTree>
    <p:extLst>
      <p:ext uri="{BB962C8B-B14F-4D97-AF65-F5344CB8AC3E}">
        <p14:creationId xmlns:p14="http://schemas.microsoft.com/office/powerpoint/2010/main" val="1329131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fade">
                                      <p:cBhvr>
                                        <p:cTn id="11" dur="500"/>
                                        <p:tgtEl>
                                          <p:spTgt spid="25"/>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fade">
                                      <p:cBhvr>
                                        <p:cTn id="15" dur="500"/>
                                        <p:tgtEl>
                                          <p:spTgt spid="26"/>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29"/>
                                        </p:tgtEl>
                                        <p:attrNameLst>
                                          <p:attrName>style.visibility</p:attrName>
                                        </p:attrNameLst>
                                      </p:cBhvr>
                                      <p:to>
                                        <p:strVal val="visible"/>
                                      </p:to>
                                    </p:set>
                                    <p:animEffect transition="in" filter="fade">
                                      <p:cBhvr>
                                        <p:cTn id="19"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26" grpId="0"/>
      <p:bldP spid="2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B826C-4D1B-462A-7C92-F8A92C0CA836}"/>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3AD95F04-3187-ACF3-5EA1-D9FD35F0D8BC}"/>
              </a:ext>
            </a:extLst>
          </p:cNvPr>
          <p:cNvSpPr/>
          <p:nvPr/>
        </p:nvSpPr>
        <p:spPr>
          <a:xfrm>
            <a:off x="1776725" y="5696606"/>
            <a:ext cx="8638550" cy="569863"/>
          </a:xfrm>
          <a:prstGeom prst="rect">
            <a:avLst/>
          </a:prstGeom>
          <a:solidFill>
            <a:srgbClr val="E0F2FE"/>
          </a:solidFill>
          <a:ln>
            <a:solidFill>
              <a:srgbClr val="0EA5A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0F172A"/>
                </a:solidFill>
              </a:rPr>
              <a:t>Bivariate analysis helps assess how individual features vary across target classes and supports feature relevance evaluation for machine learning models.</a:t>
            </a:r>
            <a:endParaRPr lang="en-IN" dirty="0">
              <a:solidFill>
                <a:srgbClr val="0F172A"/>
              </a:solidFill>
            </a:endParaRPr>
          </a:p>
        </p:txBody>
      </p:sp>
      <p:sp>
        <p:nvSpPr>
          <p:cNvPr id="26" name="TextBox 25">
            <a:extLst>
              <a:ext uri="{FF2B5EF4-FFF2-40B4-BE49-F238E27FC236}">
                <a16:creationId xmlns:a16="http://schemas.microsoft.com/office/drawing/2014/main" id="{F8BAFFE3-7695-C173-D5B0-238A7D49314A}"/>
              </a:ext>
            </a:extLst>
          </p:cNvPr>
          <p:cNvSpPr txBox="1"/>
          <p:nvPr/>
        </p:nvSpPr>
        <p:spPr>
          <a:xfrm>
            <a:off x="754828" y="880421"/>
            <a:ext cx="10682344" cy="646331"/>
          </a:xfrm>
          <a:prstGeom prst="rect">
            <a:avLst/>
          </a:prstGeom>
          <a:noFill/>
        </p:spPr>
        <p:txBody>
          <a:bodyPr wrap="square">
            <a:spAutoFit/>
          </a:bodyPr>
          <a:lstStyle/>
          <a:p>
            <a:r>
              <a:rPr lang="en-US" sz="3600" b="1" dirty="0">
                <a:solidFill>
                  <a:srgbClr val="0F172A"/>
                </a:solidFill>
              </a:rPr>
              <a:t>BIVARIATE ANALYSIS - </a:t>
            </a:r>
            <a:r>
              <a:rPr lang="en-US" sz="2800" b="1" dirty="0">
                <a:solidFill>
                  <a:srgbClr val="0F172A"/>
                </a:solidFill>
              </a:rPr>
              <a:t>Feature vs Diagnosis Relationships</a:t>
            </a:r>
            <a:endParaRPr lang="en-IN" sz="3600" dirty="0">
              <a:solidFill>
                <a:srgbClr val="0F172A"/>
              </a:solidFill>
            </a:endParaRPr>
          </a:p>
        </p:txBody>
      </p:sp>
      <p:sp>
        <p:nvSpPr>
          <p:cNvPr id="29" name="TextBox 28">
            <a:extLst>
              <a:ext uri="{FF2B5EF4-FFF2-40B4-BE49-F238E27FC236}">
                <a16:creationId xmlns:a16="http://schemas.microsoft.com/office/drawing/2014/main" id="{9D10BC0A-980C-66FC-2D1D-E3E21FAEB1BF}"/>
              </a:ext>
            </a:extLst>
          </p:cNvPr>
          <p:cNvSpPr txBox="1"/>
          <p:nvPr/>
        </p:nvSpPr>
        <p:spPr>
          <a:xfrm>
            <a:off x="754829" y="1907939"/>
            <a:ext cx="3941377" cy="2308324"/>
          </a:xfrm>
          <a:custGeom>
            <a:avLst/>
            <a:gdLst>
              <a:gd name="csX0" fmla="*/ 0 w 3941378"/>
              <a:gd name="csY0" fmla="*/ 0 h 3416320"/>
              <a:gd name="csX1" fmla="*/ 3941378 w 3941378"/>
              <a:gd name="csY1" fmla="*/ 0 h 3416320"/>
              <a:gd name="csX2" fmla="*/ 3941378 w 3941378"/>
              <a:gd name="csY2" fmla="*/ 3416320 h 3416320"/>
              <a:gd name="csX3" fmla="*/ 0 w 3941378"/>
              <a:gd name="csY3" fmla="*/ 3416320 h 3416320"/>
              <a:gd name="csX4" fmla="*/ 0 w 3941378"/>
              <a:gd name="csY4" fmla="*/ 0 h 3416320"/>
              <a:gd name="csX0" fmla="*/ 0 w 3941378"/>
              <a:gd name="csY0" fmla="*/ 0 h 3416320"/>
              <a:gd name="csX1" fmla="*/ 3941378 w 3941378"/>
              <a:gd name="csY1" fmla="*/ 0 h 3416320"/>
              <a:gd name="csX2" fmla="*/ 3941378 w 3941378"/>
              <a:gd name="csY2" fmla="*/ 3416320 h 3416320"/>
              <a:gd name="csX3" fmla="*/ 0 w 3941378"/>
              <a:gd name="csY3" fmla="*/ 3416320 h 3416320"/>
              <a:gd name="csX4" fmla="*/ 0 w 3941378"/>
              <a:gd name="csY4" fmla="*/ 0 h 3416320"/>
              <a:gd name="csX0" fmla="*/ 0 w 3941378"/>
              <a:gd name="csY0" fmla="*/ 0 h 3416320"/>
              <a:gd name="csX1" fmla="*/ 3941378 w 3941378"/>
              <a:gd name="csY1" fmla="*/ 0 h 3416320"/>
              <a:gd name="csX2" fmla="*/ 3941378 w 3941378"/>
              <a:gd name="csY2" fmla="*/ 3416320 h 3416320"/>
              <a:gd name="csX3" fmla="*/ 0 w 3941378"/>
              <a:gd name="csY3" fmla="*/ 3416320 h 3416320"/>
              <a:gd name="csX4" fmla="*/ 0 w 3941378"/>
              <a:gd name="csY4" fmla="*/ 0 h 3416320"/>
            </a:gdLst>
            <a:ahLst/>
            <a:cxnLst>
              <a:cxn ang="0">
                <a:pos x="csX0" y="csY0"/>
              </a:cxn>
              <a:cxn ang="0">
                <a:pos x="csX1" y="csY1"/>
              </a:cxn>
              <a:cxn ang="0">
                <a:pos x="csX2" y="csY2"/>
              </a:cxn>
              <a:cxn ang="0">
                <a:pos x="csX3" y="csY3"/>
              </a:cxn>
              <a:cxn ang="0">
                <a:pos x="csX4" y="csY4"/>
              </a:cxn>
            </a:cxnLst>
            <a:rect l="l" t="t" r="r" b="b"/>
            <a:pathLst>
              <a:path w="3941378" h="3416320">
                <a:moveTo>
                  <a:pt x="0" y="0"/>
                </a:moveTo>
                <a:lnTo>
                  <a:pt x="3941378" y="0"/>
                </a:lnTo>
                <a:cubicBezTo>
                  <a:pt x="3941378" y="1138773"/>
                  <a:pt x="3930868" y="2519285"/>
                  <a:pt x="3941378" y="3416320"/>
                </a:cubicBezTo>
                <a:lnTo>
                  <a:pt x="0" y="3416320"/>
                </a:lnTo>
                <a:lnTo>
                  <a:pt x="0" y="0"/>
                </a:lnTo>
                <a:close/>
              </a:path>
            </a:pathLst>
          </a:custGeom>
          <a:noFill/>
        </p:spPr>
        <p:txBody>
          <a:bodyPr wrap="square" rtlCol="0">
            <a:spAutoFit/>
          </a:bodyPr>
          <a:lstStyle/>
          <a:p>
            <a:r>
              <a:rPr lang="en-US" b="1" dirty="0">
                <a:solidFill>
                  <a:srgbClr val="0EA5A4"/>
                </a:solidFill>
              </a:rPr>
              <a:t>Key Observations</a:t>
            </a:r>
            <a:endParaRPr lang="en-US" dirty="0">
              <a:solidFill>
                <a:srgbClr val="0EA5A4"/>
              </a:solidFill>
            </a:endParaRPr>
          </a:p>
          <a:p>
            <a:pPr marL="285750" indent="-285750">
              <a:buFont typeface="Arial" panose="020B0604020202020204" pitchFamily="34" charset="0"/>
              <a:buChar char="•"/>
            </a:pPr>
            <a:r>
              <a:rPr lang="en-US" dirty="0">
                <a:solidFill>
                  <a:srgbClr val="475569"/>
                </a:solidFill>
              </a:rPr>
              <a:t>Alzheimer’s tend to be slightly older on average</a:t>
            </a:r>
          </a:p>
          <a:p>
            <a:pPr marL="285750" indent="-285750">
              <a:buFont typeface="Arial" panose="020B0604020202020204" pitchFamily="34" charset="0"/>
              <a:buChar char="•"/>
            </a:pPr>
            <a:r>
              <a:rPr lang="en-US" dirty="0">
                <a:solidFill>
                  <a:srgbClr val="475569"/>
                </a:solidFill>
              </a:rPr>
              <a:t>Gender distribution is relatively balanced across diagnosis classes</a:t>
            </a:r>
          </a:p>
          <a:p>
            <a:pPr marL="285750" indent="-285750">
              <a:buFont typeface="Arial" panose="020B0604020202020204" pitchFamily="34" charset="0"/>
              <a:buChar char="•"/>
            </a:pPr>
            <a:r>
              <a:rPr lang="en-US" dirty="0">
                <a:solidFill>
                  <a:srgbClr val="475569"/>
                </a:solidFill>
              </a:rPr>
              <a:t>This suggests age may carry stronger predictive signal than gender alone</a:t>
            </a:r>
          </a:p>
        </p:txBody>
      </p:sp>
      <p:pic>
        <p:nvPicPr>
          <p:cNvPr id="3" name="Picture 2" descr="&#10;">
            <a:extLst>
              <a:ext uri="{FF2B5EF4-FFF2-40B4-BE49-F238E27FC236}">
                <a16:creationId xmlns:a16="http://schemas.microsoft.com/office/drawing/2014/main" id="{E7AC4971-ED3F-5E2E-2450-9ABC9A312BFA}"/>
              </a:ext>
            </a:extLst>
          </p:cNvPr>
          <p:cNvPicPr>
            <a:picLocks noChangeAspect="1"/>
          </p:cNvPicPr>
          <p:nvPr/>
        </p:nvPicPr>
        <p:blipFill>
          <a:blip r:embed="rId3"/>
          <a:stretch>
            <a:fillRect/>
          </a:stretch>
        </p:blipFill>
        <p:spPr>
          <a:xfrm>
            <a:off x="4696206" y="1823659"/>
            <a:ext cx="7027563" cy="2444370"/>
          </a:xfrm>
          <a:prstGeom prst="rect">
            <a:avLst/>
          </a:prstGeom>
        </p:spPr>
      </p:pic>
    </p:spTree>
    <p:extLst>
      <p:ext uri="{BB962C8B-B14F-4D97-AF65-F5344CB8AC3E}">
        <p14:creationId xmlns:p14="http://schemas.microsoft.com/office/powerpoint/2010/main" val="1690492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6"/>
                                        </p:tgtEl>
                                        <p:attrNameLst>
                                          <p:attrName>style.visibility</p:attrName>
                                        </p:attrNameLst>
                                      </p:cBhvr>
                                      <p:to>
                                        <p:strVal val="visible"/>
                                      </p:to>
                                    </p:set>
                                    <p:animEffect transition="in" filter="fade">
                                      <p:cBhvr>
                                        <p:cTn id="11" dur="500"/>
                                        <p:tgtEl>
                                          <p:spTgt spid="26"/>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fade">
                                      <p:cBhvr>
                                        <p:cTn id="15" dur="500"/>
                                        <p:tgtEl>
                                          <p:spTgt spid="29"/>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26" grpId="0"/>
      <p:bldP spid="2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068EF1-C0C4-B561-71FB-E87468C879E6}"/>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A0051BCD-F80F-7D6F-E19F-C8EBEC4603B5}"/>
              </a:ext>
            </a:extLst>
          </p:cNvPr>
          <p:cNvSpPr/>
          <p:nvPr/>
        </p:nvSpPr>
        <p:spPr>
          <a:xfrm>
            <a:off x="1776725" y="5696606"/>
            <a:ext cx="8638550" cy="756746"/>
          </a:xfrm>
          <a:prstGeom prst="rect">
            <a:avLst/>
          </a:prstGeom>
          <a:solidFill>
            <a:srgbClr val="E0F2FE"/>
          </a:solidFill>
          <a:ln>
            <a:solidFill>
              <a:srgbClr val="0EA5A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0F172A"/>
                </a:solidFill>
              </a:rPr>
              <a:t>Correlation analysis helps identify redundant features and ensures stable model training by minimizing multicollinearity.</a:t>
            </a:r>
            <a:endParaRPr lang="en-IN" dirty="0">
              <a:solidFill>
                <a:srgbClr val="0F172A"/>
              </a:solidFill>
            </a:endParaRPr>
          </a:p>
        </p:txBody>
      </p:sp>
      <p:sp>
        <p:nvSpPr>
          <p:cNvPr id="26" name="TextBox 25">
            <a:extLst>
              <a:ext uri="{FF2B5EF4-FFF2-40B4-BE49-F238E27FC236}">
                <a16:creationId xmlns:a16="http://schemas.microsoft.com/office/drawing/2014/main" id="{E0B8080C-3E46-12DA-ECB0-D84B9BE898DF}"/>
              </a:ext>
            </a:extLst>
          </p:cNvPr>
          <p:cNvSpPr txBox="1"/>
          <p:nvPr/>
        </p:nvSpPr>
        <p:spPr>
          <a:xfrm>
            <a:off x="754828" y="880421"/>
            <a:ext cx="10682344" cy="646331"/>
          </a:xfrm>
          <a:prstGeom prst="rect">
            <a:avLst/>
          </a:prstGeom>
          <a:noFill/>
        </p:spPr>
        <p:txBody>
          <a:bodyPr wrap="square">
            <a:spAutoFit/>
          </a:bodyPr>
          <a:lstStyle/>
          <a:p>
            <a:r>
              <a:rPr lang="en-US" sz="3600" b="1" dirty="0">
                <a:solidFill>
                  <a:srgbClr val="0F172A"/>
                </a:solidFill>
              </a:rPr>
              <a:t>BIVARIATE ANALYSIS - </a:t>
            </a:r>
            <a:r>
              <a:rPr lang="en-US" sz="2800" b="1" dirty="0">
                <a:solidFill>
                  <a:srgbClr val="0F172A"/>
                </a:solidFill>
              </a:rPr>
              <a:t>Feature vs Diagnosis Relationships</a:t>
            </a:r>
            <a:endParaRPr lang="en-IN" sz="3600" dirty="0">
              <a:solidFill>
                <a:srgbClr val="0F172A"/>
              </a:solidFill>
            </a:endParaRPr>
          </a:p>
        </p:txBody>
      </p:sp>
      <p:sp>
        <p:nvSpPr>
          <p:cNvPr id="29" name="TextBox 28">
            <a:extLst>
              <a:ext uri="{FF2B5EF4-FFF2-40B4-BE49-F238E27FC236}">
                <a16:creationId xmlns:a16="http://schemas.microsoft.com/office/drawing/2014/main" id="{E9025717-DD5D-4B68-49BB-B65A7861DC73}"/>
              </a:ext>
            </a:extLst>
          </p:cNvPr>
          <p:cNvSpPr txBox="1"/>
          <p:nvPr/>
        </p:nvSpPr>
        <p:spPr>
          <a:xfrm>
            <a:off x="754829" y="1907939"/>
            <a:ext cx="5341171" cy="2585323"/>
          </a:xfrm>
          <a:custGeom>
            <a:avLst/>
            <a:gdLst>
              <a:gd name="csX0" fmla="*/ 0 w 3941378"/>
              <a:gd name="csY0" fmla="*/ 0 h 3416320"/>
              <a:gd name="csX1" fmla="*/ 3941378 w 3941378"/>
              <a:gd name="csY1" fmla="*/ 0 h 3416320"/>
              <a:gd name="csX2" fmla="*/ 3941378 w 3941378"/>
              <a:gd name="csY2" fmla="*/ 3416320 h 3416320"/>
              <a:gd name="csX3" fmla="*/ 0 w 3941378"/>
              <a:gd name="csY3" fmla="*/ 3416320 h 3416320"/>
              <a:gd name="csX4" fmla="*/ 0 w 3941378"/>
              <a:gd name="csY4" fmla="*/ 0 h 3416320"/>
              <a:gd name="csX0" fmla="*/ 0 w 3941378"/>
              <a:gd name="csY0" fmla="*/ 0 h 3416320"/>
              <a:gd name="csX1" fmla="*/ 3941378 w 3941378"/>
              <a:gd name="csY1" fmla="*/ 0 h 3416320"/>
              <a:gd name="csX2" fmla="*/ 3941378 w 3941378"/>
              <a:gd name="csY2" fmla="*/ 3416320 h 3416320"/>
              <a:gd name="csX3" fmla="*/ 0 w 3941378"/>
              <a:gd name="csY3" fmla="*/ 3416320 h 3416320"/>
              <a:gd name="csX4" fmla="*/ 0 w 3941378"/>
              <a:gd name="csY4" fmla="*/ 0 h 3416320"/>
              <a:gd name="csX0" fmla="*/ 0 w 3941378"/>
              <a:gd name="csY0" fmla="*/ 0 h 3416320"/>
              <a:gd name="csX1" fmla="*/ 3941378 w 3941378"/>
              <a:gd name="csY1" fmla="*/ 0 h 3416320"/>
              <a:gd name="csX2" fmla="*/ 3941378 w 3941378"/>
              <a:gd name="csY2" fmla="*/ 3416320 h 3416320"/>
              <a:gd name="csX3" fmla="*/ 0 w 3941378"/>
              <a:gd name="csY3" fmla="*/ 3416320 h 3416320"/>
              <a:gd name="csX4" fmla="*/ 0 w 3941378"/>
              <a:gd name="csY4" fmla="*/ 0 h 3416320"/>
            </a:gdLst>
            <a:ahLst/>
            <a:cxnLst>
              <a:cxn ang="0">
                <a:pos x="csX0" y="csY0"/>
              </a:cxn>
              <a:cxn ang="0">
                <a:pos x="csX1" y="csY1"/>
              </a:cxn>
              <a:cxn ang="0">
                <a:pos x="csX2" y="csY2"/>
              </a:cxn>
              <a:cxn ang="0">
                <a:pos x="csX3" y="csY3"/>
              </a:cxn>
              <a:cxn ang="0">
                <a:pos x="csX4" y="csY4"/>
              </a:cxn>
            </a:cxnLst>
            <a:rect l="l" t="t" r="r" b="b"/>
            <a:pathLst>
              <a:path w="3941378" h="3416320">
                <a:moveTo>
                  <a:pt x="0" y="0"/>
                </a:moveTo>
                <a:lnTo>
                  <a:pt x="3941378" y="0"/>
                </a:lnTo>
                <a:cubicBezTo>
                  <a:pt x="3941378" y="1138773"/>
                  <a:pt x="3930868" y="2519285"/>
                  <a:pt x="3941378" y="3416320"/>
                </a:cubicBezTo>
                <a:lnTo>
                  <a:pt x="0" y="3416320"/>
                </a:lnTo>
                <a:lnTo>
                  <a:pt x="0" y="0"/>
                </a:lnTo>
                <a:close/>
              </a:path>
            </a:pathLst>
          </a:custGeom>
          <a:noFill/>
        </p:spPr>
        <p:txBody>
          <a:bodyPr wrap="square" rtlCol="0">
            <a:spAutoFit/>
          </a:bodyPr>
          <a:lstStyle/>
          <a:p>
            <a:r>
              <a:rPr lang="en-US" b="1" dirty="0">
                <a:solidFill>
                  <a:srgbClr val="0EA5A4"/>
                </a:solidFill>
              </a:rPr>
              <a:t>Key Observations</a:t>
            </a:r>
            <a:endParaRPr lang="en-US" dirty="0">
              <a:solidFill>
                <a:srgbClr val="0EA5A4"/>
              </a:solidFill>
            </a:endParaRPr>
          </a:p>
          <a:p>
            <a:pPr marL="285750" indent="-285750">
              <a:buFont typeface="Arial" panose="020B0604020202020204" pitchFamily="34" charset="0"/>
              <a:buChar char="•"/>
            </a:pPr>
            <a:r>
              <a:rPr lang="en-US" dirty="0">
                <a:solidFill>
                  <a:srgbClr val="475569"/>
                </a:solidFill>
              </a:rPr>
              <a:t>Most features show low to moderate correlation with each other</a:t>
            </a:r>
          </a:p>
          <a:p>
            <a:pPr marL="285750" indent="-285750">
              <a:buFont typeface="Arial" panose="020B0604020202020204" pitchFamily="34" charset="0"/>
              <a:buChar char="•"/>
            </a:pPr>
            <a:r>
              <a:rPr lang="en-US" dirty="0">
                <a:solidFill>
                  <a:srgbClr val="475569"/>
                </a:solidFill>
              </a:rPr>
              <a:t>No strong multicollinearity is observed among input variables</a:t>
            </a:r>
          </a:p>
          <a:p>
            <a:pPr marL="285750" indent="-285750">
              <a:buFont typeface="Arial" panose="020B0604020202020204" pitchFamily="34" charset="0"/>
              <a:buChar char="•"/>
            </a:pPr>
            <a:r>
              <a:rPr lang="en-US" dirty="0">
                <a:solidFill>
                  <a:srgbClr val="475569"/>
                </a:solidFill>
              </a:rPr>
              <a:t>Cognitive and functional features show stronger correlation with the diagnosis variable</a:t>
            </a:r>
          </a:p>
          <a:p>
            <a:pPr marL="285750" indent="-285750">
              <a:buFont typeface="Arial" panose="020B0604020202020204" pitchFamily="34" charset="0"/>
              <a:buChar char="•"/>
            </a:pPr>
            <a:r>
              <a:rPr lang="en-US" dirty="0">
                <a:solidFill>
                  <a:srgbClr val="475569"/>
                </a:solidFill>
              </a:rPr>
              <a:t>This reduces the risk of model instability and redundancy</a:t>
            </a:r>
          </a:p>
        </p:txBody>
      </p:sp>
      <p:pic>
        <p:nvPicPr>
          <p:cNvPr id="4" name="Picture 3">
            <a:extLst>
              <a:ext uri="{FF2B5EF4-FFF2-40B4-BE49-F238E27FC236}">
                <a16:creationId xmlns:a16="http://schemas.microsoft.com/office/drawing/2014/main" id="{6B17F1D4-773A-9253-3138-B804B026D6F7}"/>
              </a:ext>
            </a:extLst>
          </p:cNvPr>
          <p:cNvPicPr>
            <a:picLocks noChangeAspect="1"/>
          </p:cNvPicPr>
          <p:nvPr/>
        </p:nvPicPr>
        <p:blipFill>
          <a:blip r:embed="rId3"/>
          <a:stretch>
            <a:fillRect/>
          </a:stretch>
        </p:blipFill>
        <p:spPr>
          <a:xfrm>
            <a:off x="6737702" y="1424094"/>
            <a:ext cx="4699469" cy="4156952"/>
          </a:xfrm>
          <a:prstGeom prst="rect">
            <a:avLst/>
          </a:prstGeom>
        </p:spPr>
      </p:pic>
    </p:spTree>
    <p:extLst>
      <p:ext uri="{BB962C8B-B14F-4D97-AF65-F5344CB8AC3E}">
        <p14:creationId xmlns:p14="http://schemas.microsoft.com/office/powerpoint/2010/main" val="2503128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6"/>
                                        </p:tgtEl>
                                        <p:attrNameLst>
                                          <p:attrName>style.visibility</p:attrName>
                                        </p:attrNameLst>
                                      </p:cBhvr>
                                      <p:to>
                                        <p:strVal val="visible"/>
                                      </p:to>
                                    </p:set>
                                    <p:animEffect transition="in" filter="fade">
                                      <p:cBhvr>
                                        <p:cTn id="11" dur="500"/>
                                        <p:tgtEl>
                                          <p:spTgt spid="26"/>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fade">
                                      <p:cBhvr>
                                        <p:cTn id="15" dur="500"/>
                                        <p:tgtEl>
                                          <p:spTgt spid="29"/>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26" grpId="0"/>
      <p:bldP spid="29"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a:extLst>
            <a:ext uri="{FF2B5EF4-FFF2-40B4-BE49-F238E27FC236}">
              <a16:creationId xmlns:a16="http://schemas.microsoft.com/office/drawing/2014/main" id="{CEC1DC0E-A911-4E22-DFA1-7811C2F4BEE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585242F-0F49-DDF6-DD51-F18A9C2DC7EC}"/>
              </a:ext>
            </a:extLst>
          </p:cNvPr>
          <p:cNvSpPr txBox="1"/>
          <p:nvPr/>
        </p:nvSpPr>
        <p:spPr>
          <a:xfrm>
            <a:off x="777763" y="279649"/>
            <a:ext cx="6999892" cy="646331"/>
          </a:xfrm>
          <a:prstGeom prst="rect">
            <a:avLst/>
          </a:prstGeom>
          <a:noFill/>
        </p:spPr>
        <p:txBody>
          <a:bodyPr wrap="square">
            <a:spAutoFit/>
          </a:bodyPr>
          <a:lstStyle/>
          <a:p>
            <a:r>
              <a:rPr lang="en-IN" sz="3600" b="1" dirty="0">
                <a:solidFill>
                  <a:srgbClr val="0F172A"/>
                </a:solidFill>
              </a:rPr>
              <a:t>Model Building Overview</a:t>
            </a:r>
          </a:p>
        </p:txBody>
      </p:sp>
      <p:sp>
        <p:nvSpPr>
          <p:cNvPr id="6" name="TextBox 5">
            <a:extLst>
              <a:ext uri="{FF2B5EF4-FFF2-40B4-BE49-F238E27FC236}">
                <a16:creationId xmlns:a16="http://schemas.microsoft.com/office/drawing/2014/main" id="{E618A8DF-905E-5D6C-8B8E-E382A17F1886}"/>
              </a:ext>
            </a:extLst>
          </p:cNvPr>
          <p:cNvSpPr txBox="1"/>
          <p:nvPr/>
        </p:nvSpPr>
        <p:spPr>
          <a:xfrm>
            <a:off x="714702" y="925980"/>
            <a:ext cx="5318232" cy="461665"/>
          </a:xfrm>
          <a:prstGeom prst="rect">
            <a:avLst/>
          </a:prstGeom>
          <a:noFill/>
        </p:spPr>
        <p:txBody>
          <a:bodyPr wrap="square">
            <a:spAutoFit/>
          </a:bodyPr>
          <a:lstStyle/>
          <a:p>
            <a:pPr>
              <a:spcBef>
                <a:spcPts val="600"/>
              </a:spcBef>
            </a:pPr>
            <a:r>
              <a:rPr lang="en-US" sz="2400" dirty="0">
                <a:solidFill>
                  <a:srgbClr val="0EA5A4"/>
                </a:solidFill>
              </a:rPr>
              <a:t>Section 1: Machine Learning Approach</a:t>
            </a:r>
          </a:p>
        </p:txBody>
      </p:sp>
      <p:sp>
        <p:nvSpPr>
          <p:cNvPr id="8" name="TextBox 7">
            <a:extLst>
              <a:ext uri="{FF2B5EF4-FFF2-40B4-BE49-F238E27FC236}">
                <a16:creationId xmlns:a16="http://schemas.microsoft.com/office/drawing/2014/main" id="{8BBF80B0-8603-A200-4B0B-E5E3A141FD90}"/>
              </a:ext>
            </a:extLst>
          </p:cNvPr>
          <p:cNvSpPr txBox="1"/>
          <p:nvPr/>
        </p:nvSpPr>
        <p:spPr>
          <a:xfrm>
            <a:off x="714701" y="1387644"/>
            <a:ext cx="5139561" cy="2262158"/>
          </a:xfrm>
          <a:prstGeom prst="rect">
            <a:avLst/>
          </a:prstGeom>
          <a:noFill/>
        </p:spPr>
        <p:txBody>
          <a:bodyPr wrap="square">
            <a:spAutoFit/>
          </a:bodyPr>
          <a:lstStyle/>
          <a:p>
            <a:pPr>
              <a:spcBef>
                <a:spcPts val="600"/>
              </a:spcBef>
            </a:pPr>
            <a:r>
              <a:rPr lang="en-US" dirty="0">
                <a:solidFill>
                  <a:srgbClr val="475569"/>
                </a:solidFill>
              </a:rPr>
              <a:t>Machine Learning Approach</a:t>
            </a:r>
          </a:p>
          <a:p>
            <a:pPr marL="285750" indent="-285750">
              <a:spcBef>
                <a:spcPts val="600"/>
              </a:spcBef>
              <a:buFont typeface="Arial" panose="020B0604020202020204" pitchFamily="34" charset="0"/>
              <a:buChar char="•"/>
            </a:pPr>
            <a:r>
              <a:rPr lang="en-US" dirty="0">
                <a:solidFill>
                  <a:srgbClr val="475569"/>
                </a:solidFill>
              </a:rPr>
              <a:t>The problem is formulated as a supervised classification task</a:t>
            </a:r>
          </a:p>
          <a:p>
            <a:pPr marL="285750" indent="-285750">
              <a:spcBef>
                <a:spcPts val="600"/>
              </a:spcBef>
              <a:buFont typeface="Arial" panose="020B0604020202020204" pitchFamily="34" charset="0"/>
              <a:buChar char="•"/>
            </a:pPr>
            <a:r>
              <a:rPr lang="en-US" dirty="0">
                <a:solidFill>
                  <a:srgbClr val="475569"/>
                </a:solidFill>
              </a:rPr>
              <a:t>Input features include demographic, lifestyle, clinical, and cognitive variables</a:t>
            </a:r>
          </a:p>
          <a:p>
            <a:pPr marL="285750" indent="-285750">
              <a:spcBef>
                <a:spcPts val="600"/>
              </a:spcBef>
              <a:buFont typeface="Arial" panose="020B0604020202020204" pitchFamily="34" charset="0"/>
              <a:buChar char="•"/>
            </a:pPr>
            <a:r>
              <a:rPr lang="en-US" dirty="0">
                <a:solidFill>
                  <a:srgbClr val="475569"/>
                </a:solidFill>
              </a:rPr>
              <a:t>The target variable is Alzheimer’s diagnosis (binary classification)</a:t>
            </a:r>
          </a:p>
        </p:txBody>
      </p:sp>
      <p:sp>
        <p:nvSpPr>
          <p:cNvPr id="9" name="TextBox 8">
            <a:extLst>
              <a:ext uri="{FF2B5EF4-FFF2-40B4-BE49-F238E27FC236}">
                <a16:creationId xmlns:a16="http://schemas.microsoft.com/office/drawing/2014/main" id="{22C5C0E2-9D56-0C51-C088-FFF1983EAEB8}"/>
              </a:ext>
            </a:extLst>
          </p:cNvPr>
          <p:cNvSpPr txBox="1"/>
          <p:nvPr/>
        </p:nvSpPr>
        <p:spPr>
          <a:xfrm>
            <a:off x="714701" y="3649802"/>
            <a:ext cx="5381299" cy="461665"/>
          </a:xfrm>
          <a:prstGeom prst="rect">
            <a:avLst/>
          </a:prstGeom>
          <a:noFill/>
        </p:spPr>
        <p:txBody>
          <a:bodyPr wrap="square">
            <a:spAutoFit/>
          </a:bodyPr>
          <a:lstStyle/>
          <a:p>
            <a:pPr>
              <a:spcBef>
                <a:spcPts val="600"/>
              </a:spcBef>
            </a:pPr>
            <a:r>
              <a:rPr lang="en-US" sz="2400" dirty="0">
                <a:solidFill>
                  <a:srgbClr val="0EA5A4"/>
                </a:solidFill>
              </a:rPr>
              <a:t>Section 3: Training &amp; Evaluation Setup</a:t>
            </a:r>
          </a:p>
        </p:txBody>
      </p:sp>
      <p:sp>
        <p:nvSpPr>
          <p:cNvPr id="10" name="TextBox 9">
            <a:extLst>
              <a:ext uri="{FF2B5EF4-FFF2-40B4-BE49-F238E27FC236}">
                <a16:creationId xmlns:a16="http://schemas.microsoft.com/office/drawing/2014/main" id="{DEADD145-0A10-6C91-071F-2AB745DD19B4}"/>
              </a:ext>
            </a:extLst>
          </p:cNvPr>
          <p:cNvSpPr txBox="1"/>
          <p:nvPr/>
        </p:nvSpPr>
        <p:spPr>
          <a:xfrm>
            <a:off x="714701" y="4111466"/>
            <a:ext cx="5496915" cy="1431161"/>
          </a:xfrm>
          <a:prstGeom prst="rect">
            <a:avLst/>
          </a:prstGeom>
          <a:noFill/>
        </p:spPr>
        <p:txBody>
          <a:bodyPr wrap="square">
            <a:spAutoFit/>
          </a:bodyPr>
          <a:lstStyle/>
          <a:p>
            <a:pPr>
              <a:spcBef>
                <a:spcPts val="600"/>
              </a:spcBef>
            </a:pPr>
            <a:r>
              <a:rPr lang="en-US" dirty="0">
                <a:solidFill>
                  <a:srgbClr val="475569"/>
                </a:solidFill>
              </a:rPr>
              <a:t>Training &amp; Evaluation</a:t>
            </a:r>
          </a:p>
          <a:p>
            <a:pPr marL="285750" indent="-285750">
              <a:spcBef>
                <a:spcPts val="600"/>
              </a:spcBef>
              <a:buFont typeface="Arial" panose="020B0604020202020204" pitchFamily="34" charset="0"/>
              <a:buChar char="•"/>
            </a:pPr>
            <a:r>
              <a:rPr lang="en-US" dirty="0">
                <a:solidFill>
                  <a:srgbClr val="475569"/>
                </a:solidFill>
              </a:rPr>
              <a:t>Dataset split into training and testing sets</a:t>
            </a:r>
          </a:p>
          <a:p>
            <a:pPr marL="285750" indent="-285750">
              <a:spcBef>
                <a:spcPts val="600"/>
              </a:spcBef>
              <a:buFont typeface="Arial" panose="020B0604020202020204" pitchFamily="34" charset="0"/>
              <a:buChar char="•"/>
            </a:pPr>
            <a:r>
              <a:rPr lang="en-US" dirty="0">
                <a:solidFill>
                  <a:srgbClr val="475569"/>
                </a:solidFill>
              </a:rPr>
              <a:t>Models trained on the training set</a:t>
            </a:r>
          </a:p>
          <a:p>
            <a:pPr marL="285750" indent="-285750">
              <a:spcBef>
                <a:spcPts val="600"/>
              </a:spcBef>
              <a:buFont typeface="Arial" panose="020B0604020202020204" pitchFamily="34" charset="0"/>
              <a:buChar char="•"/>
            </a:pPr>
            <a:r>
              <a:rPr lang="en-US" dirty="0">
                <a:solidFill>
                  <a:srgbClr val="475569"/>
                </a:solidFill>
              </a:rPr>
              <a:t>Final evaluation performed on unseen test data</a:t>
            </a:r>
          </a:p>
        </p:txBody>
      </p:sp>
      <p:sp>
        <p:nvSpPr>
          <p:cNvPr id="12" name="Rectangle 11">
            <a:extLst>
              <a:ext uri="{FF2B5EF4-FFF2-40B4-BE49-F238E27FC236}">
                <a16:creationId xmlns:a16="http://schemas.microsoft.com/office/drawing/2014/main" id="{4702D239-5ED4-9B4F-D2C1-1007C8D85F07}"/>
              </a:ext>
            </a:extLst>
          </p:cNvPr>
          <p:cNvSpPr/>
          <p:nvPr/>
        </p:nvSpPr>
        <p:spPr>
          <a:xfrm>
            <a:off x="2351809" y="5671266"/>
            <a:ext cx="7488383" cy="825471"/>
          </a:xfrm>
          <a:prstGeom prst="rect">
            <a:avLst/>
          </a:prstGeom>
          <a:solidFill>
            <a:srgbClr val="E0F2FE"/>
          </a:solidFill>
          <a:ln>
            <a:solidFill>
              <a:srgbClr val="0EA5A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0F172A"/>
                </a:solidFill>
              </a:rPr>
              <a:t>A consistent training and evaluation framework ensures fair comparison across all machine learning models.</a:t>
            </a:r>
            <a:endParaRPr lang="en-IN" dirty="0">
              <a:solidFill>
                <a:srgbClr val="0F172A"/>
              </a:solidFill>
            </a:endParaRPr>
          </a:p>
        </p:txBody>
      </p:sp>
      <p:sp>
        <p:nvSpPr>
          <p:cNvPr id="13" name="TextBox 12">
            <a:extLst>
              <a:ext uri="{FF2B5EF4-FFF2-40B4-BE49-F238E27FC236}">
                <a16:creationId xmlns:a16="http://schemas.microsoft.com/office/drawing/2014/main" id="{83AC0F19-656D-B148-A8A0-5D8DC7F2CFF0}"/>
              </a:ext>
            </a:extLst>
          </p:cNvPr>
          <p:cNvSpPr txBox="1"/>
          <p:nvPr/>
        </p:nvSpPr>
        <p:spPr>
          <a:xfrm>
            <a:off x="6337740" y="924909"/>
            <a:ext cx="4246176" cy="461665"/>
          </a:xfrm>
          <a:prstGeom prst="rect">
            <a:avLst/>
          </a:prstGeom>
          <a:noFill/>
        </p:spPr>
        <p:txBody>
          <a:bodyPr wrap="square">
            <a:spAutoFit/>
          </a:bodyPr>
          <a:lstStyle/>
          <a:p>
            <a:pPr>
              <a:spcBef>
                <a:spcPts val="600"/>
              </a:spcBef>
            </a:pPr>
            <a:r>
              <a:rPr lang="en-US" sz="2400" dirty="0">
                <a:solidFill>
                  <a:srgbClr val="0EA5A4"/>
                </a:solidFill>
              </a:rPr>
              <a:t>Section 2: Modeling Strategy</a:t>
            </a:r>
          </a:p>
        </p:txBody>
      </p:sp>
      <p:sp>
        <p:nvSpPr>
          <p:cNvPr id="14" name="TextBox 13">
            <a:extLst>
              <a:ext uri="{FF2B5EF4-FFF2-40B4-BE49-F238E27FC236}">
                <a16:creationId xmlns:a16="http://schemas.microsoft.com/office/drawing/2014/main" id="{6AA3FA39-7242-CD80-9D1D-41BD114465D0}"/>
              </a:ext>
            </a:extLst>
          </p:cNvPr>
          <p:cNvSpPr txBox="1"/>
          <p:nvPr/>
        </p:nvSpPr>
        <p:spPr>
          <a:xfrm>
            <a:off x="6337740" y="1386574"/>
            <a:ext cx="5318232" cy="2262158"/>
          </a:xfrm>
          <a:prstGeom prst="rect">
            <a:avLst/>
          </a:prstGeom>
          <a:noFill/>
        </p:spPr>
        <p:txBody>
          <a:bodyPr wrap="square">
            <a:spAutoFit/>
          </a:bodyPr>
          <a:lstStyle/>
          <a:p>
            <a:pPr>
              <a:spcBef>
                <a:spcPts val="600"/>
              </a:spcBef>
            </a:pPr>
            <a:r>
              <a:rPr lang="en-US" dirty="0">
                <a:solidFill>
                  <a:srgbClr val="475569"/>
                </a:solidFill>
              </a:rPr>
              <a:t>Modeling Strategy</a:t>
            </a:r>
          </a:p>
          <a:p>
            <a:pPr marL="285750" indent="-285750">
              <a:spcBef>
                <a:spcPts val="600"/>
              </a:spcBef>
              <a:buFont typeface="Arial" panose="020B0604020202020204" pitchFamily="34" charset="0"/>
              <a:buChar char="•"/>
            </a:pPr>
            <a:r>
              <a:rPr lang="en-US" dirty="0">
                <a:solidFill>
                  <a:srgbClr val="475569"/>
                </a:solidFill>
              </a:rPr>
              <a:t>Multiple classification algorithms were trained and evaluated under a common framework</a:t>
            </a:r>
          </a:p>
          <a:p>
            <a:pPr marL="285750" indent="-285750">
              <a:spcBef>
                <a:spcPts val="600"/>
              </a:spcBef>
              <a:buFont typeface="Arial" panose="020B0604020202020204" pitchFamily="34" charset="0"/>
              <a:buChar char="•"/>
            </a:pPr>
            <a:r>
              <a:rPr lang="en-US" dirty="0">
                <a:solidFill>
                  <a:srgbClr val="475569"/>
                </a:solidFill>
              </a:rPr>
              <a:t>All models were trained using the same preprocessed dataset</a:t>
            </a:r>
          </a:p>
          <a:p>
            <a:pPr marL="285750" indent="-285750">
              <a:spcBef>
                <a:spcPts val="600"/>
              </a:spcBef>
              <a:buFont typeface="Arial" panose="020B0604020202020204" pitchFamily="34" charset="0"/>
              <a:buChar char="•"/>
            </a:pPr>
            <a:r>
              <a:rPr lang="en-US" dirty="0">
                <a:solidFill>
                  <a:srgbClr val="475569"/>
                </a:solidFill>
              </a:rPr>
              <a:t>Performance comparison was done using standard evaluation metrics</a:t>
            </a:r>
          </a:p>
        </p:txBody>
      </p:sp>
    </p:spTree>
    <p:extLst>
      <p:ext uri="{BB962C8B-B14F-4D97-AF65-F5344CB8AC3E}">
        <p14:creationId xmlns:p14="http://schemas.microsoft.com/office/powerpoint/2010/main" val="3225868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childTnLst>
                          </p:cTn>
                        </p:par>
                        <p:par>
                          <p:cTn id="28" fill="hold">
                            <p:stCondLst>
                              <p:cond delay="3000"/>
                            </p:stCondLst>
                            <p:childTnLst>
                              <p:par>
                                <p:cTn id="29" presetID="10" presetClass="entr" presetSubtype="0" fill="hold" grpId="0" nodeType="after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childTnLst>
                          </p:cTn>
                        </p:par>
                        <p:par>
                          <p:cTn id="32" fill="hold">
                            <p:stCondLst>
                              <p:cond delay="3500"/>
                            </p:stCondLst>
                            <p:childTnLst>
                              <p:par>
                                <p:cTn id="33" presetID="10" presetClass="entr" presetSubtype="0" fill="hold" grpId="0" nodeType="after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8" grpId="0"/>
      <p:bldP spid="9" grpId="0"/>
      <p:bldP spid="10" grpId="0"/>
      <p:bldP spid="12" grpId="0" animBg="1"/>
      <p:bldP spid="13" grpId="0"/>
      <p:bldP spid="14"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a:extLst>
            <a:ext uri="{FF2B5EF4-FFF2-40B4-BE49-F238E27FC236}">
              <a16:creationId xmlns:a16="http://schemas.microsoft.com/office/drawing/2014/main" id="{38FBC242-5009-68C7-F5F4-CDC2D5C7DF7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CFE79ED-5FD1-0019-248A-AE92603839DD}"/>
              </a:ext>
            </a:extLst>
          </p:cNvPr>
          <p:cNvSpPr txBox="1"/>
          <p:nvPr/>
        </p:nvSpPr>
        <p:spPr>
          <a:xfrm>
            <a:off x="714701" y="648126"/>
            <a:ext cx="8418790" cy="646331"/>
          </a:xfrm>
          <a:prstGeom prst="rect">
            <a:avLst/>
          </a:prstGeom>
          <a:noFill/>
        </p:spPr>
        <p:txBody>
          <a:bodyPr wrap="square">
            <a:spAutoFit/>
          </a:bodyPr>
          <a:lstStyle/>
          <a:p>
            <a:r>
              <a:rPr lang="en-IN" sz="3600" b="1" dirty="0">
                <a:solidFill>
                  <a:srgbClr val="0F172A"/>
                </a:solidFill>
              </a:rPr>
              <a:t>Machine Learning Models Implemented</a:t>
            </a:r>
          </a:p>
        </p:txBody>
      </p:sp>
      <p:sp>
        <p:nvSpPr>
          <p:cNvPr id="12" name="Rectangle 11">
            <a:extLst>
              <a:ext uri="{FF2B5EF4-FFF2-40B4-BE49-F238E27FC236}">
                <a16:creationId xmlns:a16="http://schemas.microsoft.com/office/drawing/2014/main" id="{CB7916F7-B69E-8A4C-91A3-9B205864B1F7}"/>
              </a:ext>
            </a:extLst>
          </p:cNvPr>
          <p:cNvSpPr/>
          <p:nvPr/>
        </p:nvSpPr>
        <p:spPr>
          <a:xfrm>
            <a:off x="2351809" y="5671266"/>
            <a:ext cx="7488383" cy="825471"/>
          </a:xfrm>
          <a:prstGeom prst="rect">
            <a:avLst/>
          </a:prstGeom>
          <a:solidFill>
            <a:srgbClr val="E0F2FE"/>
          </a:solidFill>
          <a:ln>
            <a:solidFill>
              <a:srgbClr val="0EA5A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0F172A"/>
                </a:solidFill>
              </a:rPr>
              <a:t>Using a diverse set of models enables robust performance comparison and reduces algorithmic bias.</a:t>
            </a:r>
            <a:endParaRPr lang="en-IN" dirty="0">
              <a:solidFill>
                <a:srgbClr val="0F172A"/>
              </a:solidFill>
            </a:endParaRPr>
          </a:p>
        </p:txBody>
      </p:sp>
      <p:sp>
        <p:nvSpPr>
          <p:cNvPr id="6" name="TextBox 5">
            <a:extLst>
              <a:ext uri="{FF2B5EF4-FFF2-40B4-BE49-F238E27FC236}">
                <a16:creationId xmlns:a16="http://schemas.microsoft.com/office/drawing/2014/main" id="{E8009CD3-5EAA-8599-7669-17C2183F7BCB}"/>
              </a:ext>
            </a:extLst>
          </p:cNvPr>
          <p:cNvSpPr txBox="1"/>
          <p:nvPr/>
        </p:nvSpPr>
        <p:spPr>
          <a:xfrm>
            <a:off x="714702" y="1359204"/>
            <a:ext cx="5318232" cy="461665"/>
          </a:xfrm>
          <a:prstGeom prst="rect">
            <a:avLst/>
          </a:prstGeom>
          <a:noFill/>
        </p:spPr>
        <p:txBody>
          <a:bodyPr wrap="square">
            <a:spAutoFit/>
          </a:bodyPr>
          <a:lstStyle/>
          <a:p>
            <a:pPr>
              <a:spcBef>
                <a:spcPts val="600"/>
              </a:spcBef>
            </a:pPr>
            <a:r>
              <a:rPr lang="en-US" sz="2400" dirty="0">
                <a:solidFill>
                  <a:srgbClr val="0EA5A4"/>
                </a:solidFill>
              </a:rPr>
              <a:t>Section 1: Baseline Models</a:t>
            </a:r>
          </a:p>
        </p:txBody>
      </p:sp>
      <p:sp>
        <p:nvSpPr>
          <p:cNvPr id="8" name="TextBox 7">
            <a:extLst>
              <a:ext uri="{FF2B5EF4-FFF2-40B4-BE49-F238E27FC236}">
                <a16:creationId xmlns:a16="http://schemas.microsoft.com/office/drawing/2014/main" id="{CE1E60ED-060C-8861-F0B0-FA6872ABB21F}"/>
              </a:ext>
            </a:extLst>
          </p:cNvPr>
          <p:cNvSpPr txBox="1"/>
          <p:nvPr/>
        </p:nvSpPr>
        <p:spPr>
          <a:xfrm>
            <a:off x="714701" y="1820868"/>
            <a:ext cx="5139561" cy="1431161"/>
          </a:xfrm>
          <a:prstGeom prst="rect">
            <a:avLst/>
          </a:prstGeom>
          <a:noFill/>
        </p:spPr>
        <p:txBody>
          <a:bodyPr wrap="square">
            <a:spAutoFit/>
          </a:bodyPr>
          <a:lstStyle/>
          <a:p>
            <a:pPr>
              <a:spcBef>
                <a:spcPts val="600"/>
              </a:spcBef>
            </a:pPr>
            <a:r>
              <a:rPr lang="en-US" dirty="0">
                <a:solidFill>
                  <a:srgbClr val="475569"/>
                </a:solidFill>
              </a:rPr>
              <a:t>Baseline Models</a:t>
            </a:r>
          </a:p>
          <a:p>
            <a:pPr marL="285750" indent="-285750">
              <a:spcBef>
                <a:spcPts val="600"/>
              </a:spcBef>
              <a:buFont typeface="Arial" panose="020B0604020202020204" pitchFamily="34" charset="0"/>
              <a:buChar char="•"/>
            </a:pPr>
            <a:r>
              <a:rPr lang="en-US" dirty="0">
                <a:solidFill>
                  <a:srgbClr val="475569"/>
                </a:solidFill>
              </a:rPr>
              <a:t>Logistic Regression</a:t>
            </a:r>
          </a:p>
          <a:p>
            <a:pPr marL="285750" indent="-285750">
              <a:spcBef>
                <a:spcPts val="600"/>
              </a:spcBef>
              <a:buFont typeface="Arial" panose="020B0604020202020204" pitchFamily="34" charset="0"/>
              <a:buChar char="•"/>
            </a:pPr>
            <a:r>
              <a:rPr lang="en-US" dirty="0">
                <a:solidFill>
                  <a:srgbClr val="475569"/>
                </a:solidFill>
              </a:rPr>
              <a:t>Naïve Bayes</a:t>
            </a:r>
          </a:p>
          <a:p>
            <a:pPr marL="285750" indent="-285750">
              <a:spcBef>
                <a:spcPts val="600"/>
              </a:spcBef>
              <a:buFont typeface="Arial" panose="020B0604020202020204" pitchFamily="34" charset="0"/>
              <a:buChar char="•"/>
            </a:pPr>
            <a:r>
              <a:rPr lang="en-US" dirty="0">
                <a:solidFill>
                  <a:srgbClr val="475569"/>
                </a:solidFill>
              </a:rPr>
              <a:t>k-Nearest Neighbors (KNN)</a:t>
            </a:r>
          </a:p>
        </p:txBody>
      </p:sp>
      <p:sp>
        <p:nvSpPr>
          <p:cNvPr id="9" name="TextBox 8">
            <a:extLst>
              <a:ext uri="{FF2B5EF4-FFF2-40B4-BE49-F238E27FC236}">
                <a16:creationId xmlns:a16="http://schemas.microsoft.com/office/drawing/2014/main" id="{C1312811-3DA8-013C-3F91-9F15341B5E2C}"/>
              </a:ext>
            </a:extLst>
          </p:cNvPr>
          <p:cNvSpPr txBox="1"/>
          <p:nvPr/>
        </p:nvSpPr>
        <p:spPr>
          <a:xfrm>
            <a:off x="714701" y="3252029"/>
            <a:ext cx="5381299" cy="461665"/>
          </a:xfrm>
          <a:prstGeom prst="rect">
            <a:avLst/>
          </a:prstGeom>
          <a:noFill/>
        </p:spPr>
        <p:txBody>
          <a:bodyPr wrap="square">
            <a:spAutoFit/>
          </a:bodyPr>
          <a:lstStyle/>
          <a:p>
            <a:pPr>
              <a:spcBef>
                <a:spcPts val="600"/>
              </a:spcBef>
            </a:pPr>
            <a:r>
              <a:rPr lang="en-US" sz="2400" dirty="0">
                <a:solidFill>
                  <a:srgbClr val="0EA5A4"/>
                </a:solidFill>
              </a:rPr>
              <a:t>Section 3: Ensemble &amp; Boosting Models</a:t>
            </a:r>
          </a:p>
        </p:txBody>
      </p:sp>
      <p:sp>
        <p:nvSpPr>
          <p:cNvPr id="10" name="TextBox 9">
            <a:extLst>
              <a:ext uri="{FF2B5EF4-FFF2-40B4-BE49-F238E27FC236}">
                <a16:creationId xmlns:a16="http://schemas.microsoft.com/office/drawing/2014/main" id="{4A56B59E-18CA-FE17-B7F7-7C213B41716A}"/>
              </a:ext>
            </a:extLst>
          </p:cNvPr>
          <p:cNvSpPr txBox="1"/>
          <p:nvPr/>
        </p:nvSpPr>
        <p:spPr>
          <a:xfrm>
            <a:off x="714701" y="3713693"/>
            <a:ext cx="5139561" cy="1785104"/>
          </a:xfrm>
          <a:prstGeom prst="rect">
            <a:avLst/>
          </a:prstGeom>
          <a:noFill/>
        </p:spPr>
        <p:txBody>
          <a:bodyPr wrap="square">
            <a:spAutoFit/>
          </a:bodyPr>
          <a:lstStyle/>
          <a:p>
            <a:pPr>
              <a:spcBef>
                <a:spcPts val="600"/>
              </a:spcBef>
            </a:pPr>
            <a:r>
              <a:rPr lang="en-US" dirty="0">
                <a:solidFill>
                  <a:srgbClr val="475569"/>
                </a:solidFill>
              </a:rPr>
              <a:t>Ensemble &amp; Boosting Models</a:t>
            </a:r>
          </a:p>
          <a:p>
            <a:pPr marL="285750" indent="-285750">
              <a:spcBef>
                <a:spcPts val="600"/>
              </a:spcBef>
              <a:buFont typeface="Arial" panose="020B0604020202020204" pitchFamily="34" charset="0"/>
              <a:buChar char="•"/>
            </a:pPr>
            <a:r>
              <a:rPr lang="en-US" dirty="0">
                <a:solidFill>
                  <a:srgbClr val="475569"/>
                </a:solidFill>
              </a:rPr>
              <a:t>Gradient Boosting</a:t>
            </a:r>
          </a:p>
          <a:p>
            <a:pPr marL="285750" indent="-285750">
              <a:spcBef>
                <a:spcPts val="600"/>
              </a:spcBef>
              <a:buFont typeface="Arial" panose="020B0604020202020204" pitchFamily="34" charset="0"/>
              <a:buChar char="•"/>
            </a:pPr>
            <a:r>
              <a:rPr lang="en-US" dirty="0" err="1">
                <a:solidFill>
                  <a:srgbClr val="475569"/>
                </a:solidFill>
              </a:rPr>
              <a:t>XGBoost</a:t>
            </a:r>
            <a:endParaRPr lang="en-US" dirty="0">
              <a:solidFill>
                <a:srgbClr val="475569"/>
              </a:solidFill>
            </a:endParaRPr>
          </a:p>
          <a:p>
            <a:pPr marL="285750" indent="-285750">
              <a:spcBef>
                <a:spcPts val="600"/>
              </a:spcBef>
              <a:buFont typeface="Arial" panose="020B0604020202020204" pitchFamily="34" charset="0"/>
              <a:buChar char="•"/>
            </a:pPr>
            <a:r>
              <a:rPr lang="en-US" dirty="0" err="1">
                <a:solidFill>
                  <a:srgbClr val="475569"/>
                </a:solidFill>
              </a:rPr>
              <a:t>LightGBM</a:t>
            </a:r>
            <a:endParaRPr lang="en-US" dirty="0">
              <a:solidFill>
                <a:srgbClr val="475569"/>
              </a:solidFill>
            </a:endParaRPr>
          </a:p>
          <a:p>
            <a:pPr marL="285750" indent="-285750">
              <a:spcBef>
                <a:spcPts val="600"/>
              </a:spcBef>
              <a:buFont typeface="Arial" panose="020B0604020202020204" pitchFamily="34" charset="0"/>
              <a:buChar char="•"/>
            </a:pPr>
            <a:r>
              <a:rPr lang="en-US" dirty="0">
                <a:solidFill>
                  <a:srgbClr val="475569"/>
                </a:solidFill>
              </a:rPr>
              <a:t>CatBoost</a:t>
            </a:r>
          </a:p>
        </p:txBody>
      </p:sp>
      <p:sp>
        <p:nvSpPr>
          <p:cNvPr id="13" name="TextBox 12">
            <a:extLst>
              <a:ext uri="{FF2B5EF4-FFF2-40B4-BE49-F238E27FC236}">
                <a16:creationId xmlns:a16="http://schemas.microsoft.com/office/drawing/2014/main" id="{71425A33-02AF-DF3F-8F1A-CAE7FF8121C8}"/>
              </a:ext>
            </a:extLst>
          </p:cNvPr>
          <p:cNvSpPr txBox="1"/>
          <p:nvPr/>
        </p:nvSpPr>
        <p:spPr>
          <a:xfrm>
            <a:off x="6337740" y="1360273"/>
            <a:ext cx="4246176" cy="461665"/>
          </a:xfrm>
          <a:prstGeom prst="rect">
            <a:avLst/>
          </a:prstGeom>
          <a:noFill/>
        </p:spPr>
        <p:txBody>
          <a:bodyPr wrap="square">
            <a:spAutoFit/>
          </a:bodyPr>
          <a:lstStyle/>
          <a:p>
            <a:pPr>
              <a:spcBef>
                <a:spcPts val="600"/>
              </a:spcBef>
            </a:pPr>
            <a:r>
              <a:rPr lang="en-US" sz="2400" dirty="0">
                <a:solidFill>
                  <a:srgbClr val="0EA5A4"/>
                </a:solidFill>
              </a:rPr>
              <a:t>Section 2: Tree-Based Models</a:t>
            </a:r>
          </a:p>
        </p:txBody>
      </p:sp>
      <p:sp>
        <p:nvSpPr>
          <p:cNvPr id="14" name="TextBox 13">
            <a:extLst>
              <a:ext uri="{FF2B5EF4-FFF2-40B4-BE49-F238E27FC236}">
                <a16:creationId xmlns:a16="http://schemas.microsoft.com/office/drawing/2014/main" id="{F7CB8434-DB9F-F545-9F46-119504D1F432}"/>
              </a:ext>
            </a:extLst>
          </p:cNvPr>
          <p:cNvSpPr txBox="1"/>
          <p:nvPr/>
        </p:nvSpPr>
        <p:spPr>
          <a:xfrm>
            <a:off x="6337740" y="1820868"/>
            <a:ext cx="5318232" cy="1077218"/>
          </a:xfrm>
          <a:prstGeom prst="rect">
            <a:avLst/>
          </a:prstGeom>
          <a:noFill/>
        </p:spPr>
        <p:txBody>
          <a:bodyPr wrap="square">
            <a:spAutoFit/>
          </a:bodyPr>
          <a:lstStyle/>
          <a:p>
            <a:pPr>
              <a:spcBef>
                <a:spcPts val="600"/>
              </a:spcBef>
            </a:pPr>
            <a:r>
              <a:rPr lang="en-US" dirty="0">
                <a:solidFill>
                  <a:srgbClr val="475569"/>
                </a:solidFill>
              </a:rPr>
              <a:t>Tree-Based Models</a:t>
            </a:r>
          </a:p>
          <a:p>
            <a:pPr marL="285750" indent="-285750">
              <a:spcBef>
                <a:spcPts val="600"/>
              </a:spcBef>
              <a:buFont typeface="Arial" panose="020B0604020202020204" pitchFamily="34" charset="0"/>
              <a:buChar char="•"/>
            </a:pPr>
            <a:r>
              <a:rPr lang="en-US" dirty="0">
                <a:solidFill>
                  <a:srgbClr val="475569"/>
                </a:solidFill>
              </a:rPr>
              <a:t>Decision Tree</a:t>
            </a:r>
          </a:p>
          <a:p>
            <a:pPr marL="285750" indent="-285750">
              <a:spcBef>
                <a:spcPts val="600"/>
              </a:spcBef>
              <a:buFont typeface="Arial" panose="020B0604020202020204" pitchFamily="34" charset="0"/>
              <a:buChar char="•"/>
            </a:pPr>
            <a:r>
              <a:rPr lang="en-US" dirty="0">
                <a:solidFill>
                  <a:srgbClr val="475569"/>
                </a:solidFill>
              </a:rPr>
              <a:t>Random Forest</a:t>
            </a:r>
          </a:p>
        </p:txBody>
      </p:sp>
      <p:sp>
        <p:nvSpPr>
          <p:cNvPr id="7" name="TextBox 6">
            <a:extLst>
              <a:ext uri="{FF2B5EF4-FFF2-40B4-BE49-F238E27FC236}">
                <a16:creationId xmlns:a16="http://schemas.microsoft.com/office/drawing/2014/main" id="{FA34626E-8527-A5C8-54EC-88D58557A11D}"/>
              </a:ext>
            </a:extLst>
          </p:cNvPr>
          <p:cNvSpPr txBox="1"/>
          <p:nvPr/>
        </p:nvSpPr>
        <p:spPr>
          <a:xfrm>
            <a:off x="6337740" y="3252029"/>
            <a:ext cx="5559972" cy="461665"/>
          </a:xfrm>
          <a:prstGeom prst="rect">
            <a:avLst/>
          </a:prstGeom>
          <a:noFill/>
        </p:spPr>
        <p:txBody>
          <a:bodyPr wrap="square">
            <a:spAutoFit/>
          </a:bodyPr>
          <a:lstStyle/>
          <a:p>
            <a:pPr>
              <a:spcBef>
                <a:spcPts val="600"/>
              </a:spcBef>
            </a:pPr>
            <a:r>
              <a:rPr lang="en-US" sz="2400" dirty="0">
                <a:solidFill>
                  <a:srgbClr val="0EA5A4"/>
                </a:solidFill>
              </a:rPr>
              <a:t>Section 4: Margin-Based &amp; Other Models</a:t>
            </a:r>
          </a:p>
        </p:txBody>
      </p:sp>
      <p:sp>
        <p:nvSpPr>
          <p:cNvPr id="11" name="TextBox 10">
            <a:extLst>
              <a:ext uri="{FF2B5EF4-FFF2-40B4-BE49-F238E27FC236}">
                <a16:creationId xmlns:a16="http://schemas.microsoft.com/office/drawing/2014/main" id="{4BCE87E1-7950-5D2A-157F-04AF284B604F}"/>
              </a:ext>
            </a:extLst>
          </p:cNvPr>
          <p:cNvSpPr txBox="1"/>
          <p:nvPr/>
        </p:nvSpPr>
        <p:spPr>
          <a:xfrm>
            <a:off x="6337740" y="3712624"/>
            <a:ext cx="5318232" cy="1077218"/>
          </a:xfrm>
          <a:prstGeom prst="rect">
            <a:avLst/>
          </a:prstGeom>
          <a:noFill/>
        </p:spPr>
        <p:txBody>
          <a:bodyPr wrap="square">
            <a:spAutoFit/>
          </a:bodyPr>
          <a:lstStyle/>
          <a:p>
            <a:pPr>
              <a:spcBef>
                <a:spcPts val="600"/>
              </a:spcBef>
            </a:pPr>
            <a:r>
              <a:rPr lang="en-US" dirty="0">
                <a:solidFill>
                  <a:srgbClr val="475569"/>
                </a:solidFill>
              </a:rPr>
              <a:t>Other Classification Models</a:t>
            </a:r>
          </a:p>
          <a:p>
            <a:pPr marL="285750" indent="-285750">
              <a:spcBef>
                <a:spcPts val="600"/>
              </a:spcBef>
              <a:buFont typeface="Arial" panose="020B0604020202020204" pitchFamily="34" charset="0"/>
              <a:buChar char="•"/>
            </a:pPr>
            <a:r>
              <a:rPr lang="en-US" dirty="0">
                <a:solidFill>
                  <a:srgbClr val="475569"/>
                </a:solidFill>
              </a:rPr>
              <a:t>Support Vector Machine(SVM)</a:t>
            </a:r>
          </a:p>
          <a:p>
            <a:pPr marL="285750" indent="-285750">
              <a:spcBef>
                <a:spcPts val="600"/>
              </a:spcBef>
              <a:buFont typeface="Arial" panose="020B0604020202020204" pitchFamily="34" charset="0"/>
              <a:buChar char="•"/>
            </a:pPr>
            <a:r>
              <a:rPr lang="en-US" dirty="0">
                <a:solidFill>
                  <a:srgbClr val="475569"/>
                </a:solidFill>
              </a:rPr>
              <a:t>AdaBoost</a:t>
            </a:r>
          </a:p>
        </p:txBody>
      </p:sp>
    </p:spTree>
    <p:extLst>
      <p:ext uri="{BB962C8B-B14F-4D97-AF65-F5344CB8AC3E}">
        <p14:creationId xmlns:p14="http://schemas.microsoft.com/office/powerpoint/2010/main" val="2770731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500"/>
                                        <p:tgtEl>
                                          <p:spTgt spid="12"/>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childTnLst>
                          </p:cTn>
                        </p:par>
                        <p:par>
                          <p:cTn id="28" fill="hold">
                            <p:stCondLst>
                              <p:cond delay="3000"/>
                            </p:stCondLst>
                            <p:childTnLst>
                              <p:par>
                                <p:cTn id="29" presetID="10" presetClass="entr" presetSubtype="0" fill="hold" grpId="0" nodeType="after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childTnLst>
                          </p:cTn>
                        </p:par>
                        <p:par>
                          <p:cTn id="32" fill="hold">
                            <p:stCondLst>
                              <p:cond delay="3500"/>
                            </p:stCondLst>
                            <p:childTnLst>
                              <p:par>
                                <p:cTn id="33" presetID="10" presetClass="entr" presetSubtype="0" fill="hold" grpId="0" nodeType="after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500"/>
                                        <p:tgtEl>
                                          <p:spTgt spid="14"/>
                                        </p:tgtEl>
                                      </p:cBhvr>
                                    </p:animEffect>
                                  </p:childTnLst>
                                </p:cTn>
                              </p:par>
                            </p:childTnLst>
                          </p:cTn>
                        </p:par>
                        <p:par>
                          <p:cTn id="36" fill="hold">
                            <p:stCondLst>
                              <p:cond delay="4000"/>
                            </p:stCondLst>
                            <p:childTnLst>
                              <p:par>
                                <p:cTn id="37" presetID="10" presetClass="entr" presetSubtype="0" fill="hold" grpId="0" nodeType="afterEffect">
                                  <p:stCondLst>
                                    <p:cond delay="0"/>
                                  </p:stCondLst>
                                  <p:childTnLst>
                                    <p:set>
                                      <p:cBhvr>
                                        <p:cTn id="38" dur="1" fill="hold">
                                          <p:stCondLst>
                                            <p:cond delay="0"/>
                                          </p:stCondLst>
                                        </p:cTn>
                                        <p:tgtEl>
                                          <p:spTgt spid="7"/>
                                        </p:tgtEl>
                                        <p:attrNameLst>
                                          <p:attrName>style.visibility</p:attrName>
                                        </p:attrNameLst>
                                      </p:cBhvr>
                                      <p:to>
                                        <p:strVal val="visible"/>
                                      </p:to>
                                    </p:set>
                                    <p:animEffect transition="in" filter="fade">
                                      <p:cBhvr>
                                        <p:cTn id="39" dur="500"/>
                                        <p:tgtEl>
                                          <p:spTgt spid="7"/>
                                        </p:tgtEl>
                                      </p:cBhvr>
                                    </p:animEffect>
                                  </p:childTnLst>
                                </p:cTn>
                              </p:par>
                            </p:childTnLst>
                          </p:cTn>
                        </p:par>
                        <p:par>
                          <p:cTn id="40" fill="hold">
                            <p:stCondLst>
                              <p:cond delay="4500"/>
                            </p:stCondLst>
                            <p:childTnLst>
                              <p:par>
                                <p:cTn id="41" presetID="10" presetClass="entr" presetSubtype="0" fill="hold" grpId="0" nodeType="after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2" grpId="0" animBg="1"/>
      <p:bldP spid="6" grpId="0"/>
      <p:bldP spid="8" grpId="0"/>
      <p:bldP spid="9" grpId="0"/>
      <p:bldP spid="10" grpId="0"/>
      <p:bldP spid="13" grpId="0"/>
      <p:bldP spid="14" grpId="0"/>
      <p:bldP spid="7" grpId="0"/>
      <p:bldP spid="11"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a:extLst>
            <a:ext uri="{FF2B5EF4-FFF2-40B4-BE49-F238E27FC236}">
              <a16:creationId xmlns:a16="http://schemas.microsoft.com/office/drawing/2014/main" id="{CCE8129E-3D0E-AB86-49DF-CA42B471A52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7D86970-D616-C039-8908-722B0E8E31E8}"/>
              </a:ext>
            </a:extLst>
          </p:cNvPr>
          <p:cNvSpPr txBox="1"/>
          <p:nvPr/>
        </p:nvSpPr>
        <p:spPr>
          <a:xfrm>
            <a:off x="625366" y="784373"/>
            <a:ext cx="5933090" cy="646331"/>
          </a:xfrm>
          <a:prstGeom prst="rect">
            <a:avLst/>
          </a:prstGeom>
          <a:noFill/>
        </p:spPr>
        <p:txBody>
          <a:bodyPr wrap="square">
            <a:spAutoFit/>
          </a:bodyPr>
          <a:lstStyle/>
          <a:p>
            <a:r>
              <a:rPr lang="en-IN" sz="3600" b="1" dirty="0">
                <a:solidFill>
                  <a:srgbClr val="0F172A"/>
                </a:solidFill>
              </a:rPr>
              <a:t>Model Evaluation Metrics</a:t>
            </a:r>
          </a:p>
        </p:txBody>
      </p:sp>
      <p:sp>
        <p:nvSpPr>
          <p:cNvPr id="12" name="Rectangle 11">
            <a:extLst>
              <a:ext uri="{FF2B5EF4-FFF2-40B4-BE49-F238E27FC236}">
                <a16:creationId xmlns:a16="http://schemas.microsoft.com/office/drawing/2014/main" id="{69BFD696-9785-4F85-F096-F282B3EEEA73}"/>
              </a:ext>
            </a:extLst>
          </p:cNvPr>
          <p:cNvSpPr/>
          <p:nvPr/>
        </p:nvSpPr>
        <p:spPr>
          <a:xfrm>
            <a:off x="2351809" y="5671266"/>
            <a:ext cx="7488383" cy="825471"/>
          </a:xfrm>
          <a:prstGeom prst="rect">
            <a:avLst/>
          </a:prstGeom>
          <a:solidFill>
            <a:srgbClr val="E0F2FE"/>
          </a:solidFill>
          <a:ln>
            <a:solidFill>
              <a:srgbClr val="0EA5A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0F172A"/>
                </a:solidFill>
              </a:rPr>
              <a:t>Using multiple evaluation metrics ensures reliable and unbiased assessment of classification models.</a:t>
            </a:r>
            <a:endParaRPr lang="en-IN" dirty="0">
              <a:solidFill>
                <a:srgbClr val="0F172A"/>
              </a:solidFill>
            </a:endParaRPr>
          </a:p>
        </p:txBody>
      </p:sp>
      <p:sp>
        <p:nvSpPr>
          <p:cNvPr id="6" name="TextBox 5">
            <a:extLst>
              <a:ext uri="{FF2B5EF4-FFF2-40B4-BE49-F238E27FC236}">
                <a16:creationId xmlns:a16="http://schemas.microsoft.com/office/drawing/2014/main" id="{EB75AC0E-19CD-D4FB-45A0-D66FC50A04AE}"/>
              </a:ext>
            </a:extLst>
          </p:cNvPr>
          <p:cNvSpPr txBox="1"/>
          <p:nvPr/>
        </p:nvSpPr>
        <p:spPr>
          <a:xfrm>
            <a:off x="625365" y="1536175"/>
            <a:ext cx="5591505" cy="461665"/>
          </a:xfrm>
          <a:prstGeom prst="rect">
            <a:avLst/>
          </a:prstGeom>
          <a:noFill/>
        </p:spPr>
        <p:txBody>
          <a:bodyPr wrap="square">
            <a:spAutoFit/>
          </a:bodyPr>
          <a:lstStyle/>
          <a:p>
            <a:pPr>
              <a:spcBef>
                <a:spcPts val="600"/>
              </a:spcBef>
            </a:pPr>
            <a:r>
              <a:rPr lang="en-US" sz="2400" dirty="0">
                <a:solidFill>
                  <a:srgbClr val="0EA5A4"/>
                </a:solidFill>
              </a:rPr>
              <a:t>Section 1: Why Evaluation Metrics Matter</a:t>
            </a:r>
          </a:p>
        </p:txBody>
      </p:sp>
      <p:sp>
        <p:nvSpPr>
          <p:cNvPr id="8" name="TextBox 7">
            <a:extLst>
              <a:ext uri="{FF2B5EF4-FFF2-40B4-BE49-F238E27FC236}">
                <a16:creationId xmlns:a16="http://schemas.microsoft.com/office/drawing/2014/main" id="{F75B4E4C-C12D-DC3E-8584-81F2176BE1B8}"/>
              </a:ext>
            </a:extLst>
          </p:cNvPr>
          <p:cNvSpPr txBox="1"/>
          <p:nvPr/>
        </p:nvSpPr>
        <p:spPr>
          <a:xfrm>
            <a:off x="625365" y="1997839"/>
            <a:ext cx="5139561" cy="1477328"/>
          </a:xfrm>
          <a:prstGeom prst="rect">
            <a:avLst/>
          </a:prstGeom>
          <a:noFill/>
        </p:spPr>
        <p:txBody>
          <a:bodyPr wrap="square">
            <a:spAutoFit/>
          </a:bodyPr>
          <a:lstStyle/>
          <a:p>
            <a:r>
              <a:rPr lang="en-US" b="1" dirty="0">
                <a:solidFill>
                  <a:srgbClr val="475569"/>
                </a:solidFill>
              </a:rPr>
              <a:t>Why Evaluation Metrics Are Important</a:t>
            </a:r>
          </a:p>
          <a:p>
            <a:pPr marL="285750" indent="-285750">
              <a:buFont typeface="Arial" panose="020B0604020202020204" pitchFamily="34" charset="0"/>
              <a:buChar char="•"/>
            </a:pPr>
            <a:r>
              <a:rPr lang="en-US" dirty="0">
                <a:solidFill>
                  <a:srgbClr val="475569"/>
                </a:solidFill>
              </a:rPr>
              <a:t>Accuracy alone may be misleading in imbalanced datasets</a:t>
            </a:r>
          </a:p>
          <a:p>
            <a:pPr marL="285750" indent="-285750">
              <a:buFont typeface="Arial" panose="020B0604020202020204" pitchFamily="34" charset="0"/>
              <a:buChar char="•"/>
            </a:pPr>
            <a:r>
              <a:rPr lang="en-US" dirty="0">
                <a:solidFill>
                  <a:srgbClr val="475569"/>
                </a:solidFill>
              </a:rPr>
              <a:t>Multiple metrics provide a balanced performance assessment</a:t>
            </a:r>
          </a:p>
        </p:txBody>
      </p:sp>
      <p:sp>
        <p:nvSpPr>
          <p:cNvPr id="9" name="TextBox 8">
            <a:extLst>
              <a:ext uri="{FF2B5EF4-FFF2-40B4-BE49-F238E27FC236}">
                <a16:creationId xmlns:a16="http://schemas.microsoft.com/office/drawing/2014/main" id="{7E0A127F-7F82-64D7-AEE8-751D287B5BDB}"/>
              </a:ext>
            </a:extLst>
          </p:cNvPr>
          <p:cNvSpPr txBox="1"/>
          <p:nvPr/>
        </p:nvSpPr>
        <p:spPr>
          <a:xfrm>
            <a:off x="625365" y="3429000"/>
            <a:ext cx="5381299" cy="461665"/>
          </a:xfrm>
          <a:prstGeom prst="rect">
            <a:avLst/>
          </a:prstGeom>
          <a:noFill/>
        </p:spPr>
        <p:txBody>
          <a:bodyPr wrap="square">
            <a:spAutoFit/>
          </a:bodyPr>
          <a:lstStyle/>
          <a:p>
            <a:pPr>
              <a:spcBef>
                <a:spcPts val="600"/>
              </a:spcBef>
            </a:pPr>
            <a:r>
              <a:rPr lang="en-US" sz="2400" dirty="0">
                <a:solidFill>
                  <a:srgbClr val="0EA5A4"/>
                </a:solidFill>
              </a:rPr>
              <a:t>Section 3: Evaluation Strategy</a:t>
            </a:r>
          </a:p>
        </p:txBody>
      </p:sp>
      <p:sp>
        <p:nvSpPr>
          <p:cNvPr id="10" name="TextBox 9">
            <a:extLst>
              <a:ext uri="{FF2B5EF4-FFF2-40B4-BE49-F238E27FC236}">
                <a16:creationId xmlns:a16="http://schemas.microsoft.com/office/drawing/2014/main" id="{D241E92B-D1B6-DBBB-1109-7FDE3A7C1126}"/>
              </a:ext>
            </a:extLst>
          </p:cNvPr>
          <p:cNvSpPr txBox="1"/>
          <p:nvPr/>
        </p:nvSpPr>
        <p:spPr>
          <a:xfrm>
            <a:off x="625365" y="3890664"/>
            <a:ext cx="5139561" cy="1431161"/>
          </a:xfrm>
          <a:prstGeom prst="rect">
            <a:avLst/>
          </a:prstGeom>
          <a:noFill/>
        </p:spPr>
        <p:txBody>
          <a:bodyPr wrap="square">
            <a:spAutoFit/>
          </a:bodyPr>
          <a:lstStyle/>
          <a:p>
            <a:pPr>
              <a:spcBef>
                <a:spcPts val="600"/>
              </a:spcBef>
            </a:pPr>
            <a:r>
              <a:rPr lang="en-US" dirty="0">
                <a:solidFill>
                  <a:srgbClr val="475569"/>
                </a:solidFill>
              </a:rPr>
              <a:t>Evaluation Strategy</a:t>
            </a:r>
          </a:p>
          <a:p>
            <a:pPr marL="285750" indent="-285750">
              <a:spcBef>
                <a:spcPts val="600"/>
              </a:spcBef>
              <a:buFont typeface="Arial" panose="020B0604020202020204" pitchFamily="34" charset="0"/>
              <a:buChar char="•"/>
            </a:pPr>
            <a:r>
              <a:rPr lang="en-US" dirty="0">
                <a:solidFill>
                  <a:srgbClr val="475569"/>
                </a:solidFill>
              </a:rPr>
              <a:t>Metrics computed on the test dataset</a:t>
            </a:r>
          </a:p>
          <a:p>
            <a:pPr marL="285750" indent="-285750">
              <a:spcBef>
                <a:spcPts val="600"/>
              </a:spcBef>
              <a:buFont typeface="Arial" panose="020B0604020202020204" pitchFamily="34" charset="0"/>
              <a:buChar char="•"/>
            </a:pPr>
            <a:r>
              <a:rPr lang="en-US" dirty="0">
                <a:solidFill>
                  <a:srgbClr val="475569"/>
                </a:solidFill>
              </a:rPr>
              <a:t>Same metrics applied to all models</a:t>
            </a:r>
          </a:p>
          <a:p>
            <a:pPr marL="285750" indent="-285750">
              <a:spcBef>
                <a:spcPts val="600"/>
              </a:spcBef>
              <a:buFont typeface="Arial" panose="020B0604020202020204" pitchFamily="34" charset="0"/>
              <a:buChar char="•"/>
            </a:pPr>
            <a:r>
              <a:rPr lang="en-US" dirty="0">
                <a:solidFill>
                  <a:srgbClr val="475569"/>
                </a:solidFill>
              </a:rPr>
              <a:t>Ensures fair comparison across algorithms</a:t>
            </a:r>
          </a:p>
        </p:txBody>
      </p:sp>
      <p:sp>
        <p:nvSpPr>
          <p:cNvPr id="13" name="TextBox 12">
            <a:extLst>
              <a:ext uri="{FF2B5EF4-FFF2-40B4-BE49-F238E27FC236}">
                <a16:creationId xmlns:a16="http://schemas.microsoft.com/office/drawing/2014/main" id="{D0192A4E-AA1B-6157-1E66-02ECB84A6962}"/>
              </a:ext>
            </a:extLst>
          </p:cNvPr>
          <p:cNvSpPr txBox="1"/>
          <p:nvPr/>
        </p:nvSpPr>
        <p:spPr>
          <a:xfrm>
            <a:off x="6248404" y="1537244"/>
            <a:ext cx="4464362" cy="461665"/>
          </a:xfrm>
          <a:prstGeom prst="rect">
            <a:avLst/>
          </a:prstGeom>
          <a:noFill/>
        </p:spPr>
        <p:txBody>
          <a:bodyPr wrap="square">
            <a:spAutoFit/>
          </a:bodyPr>
          <a:lstStyle/>
          <a:p>
            <a:pPr>
              <a:spcBef>
                <a:spcPts val="600"/>
              </a:spcBef>
            </a:pPr>
            <a:r>
              <a:rPr lang="en-US" sz="2400" dirty="0">
                <a:solidFill>
                  <a:srgbClr val="0EA5A4"/>
                </a:solidFill>
              </a:rPr>
              <a:t>Section 2: Metrics Used</a:t>
            </a:r>
          </a:p>
        </p:txBody>
      </p:sp>
      <p:sp>
        <p:nvSpPr>
          <p:cNvPr id="14" name="TextBox 13">
            <a:extLst>
              <a:ext uri="{FF2B5EF4-FFF2-40B4-BE49-F238E27FC236}">
                <a16:creationId xmlns:a16="http://schemas.microsoft.com/office/drawing/2014/main" id="{2B747DE3-A43E-6561-BFA7-4AD89C81488A}"/>
              </a:ext>
            </a:extLst>
          </p:cNvPr>
          <p:cNvSpPr txBox="1"/>
          <p:nvPr/>
        </p:nvSpPr>
        <p:spPr>
          <a:xfrm>
            <a:off x="6248404" y="1997839"/>
            <a:ext cx="5318232" cy="2339102"/>
          </a:xfrm>
          <a:prstGeom prst="rect">
            <a:avLst/>
          </a:prstGeom>
          <a:noFill/>
        </p:spPr>
        <p:txBody>
          <a:bodyPr wrap="square">
            <a:spAutoFit/>
          </a:bodyPr>
          <a:lstStyle/>
          <a:p>
            <a:pPr>
              <a:spcBef>
                <a:spcPts val="600"/>
              </a:spcBef>
            </a:pPr>
            <a:r>
              <a:rPr lang="en-US" dirty="0">
                <a:solidFill>
                  <a:srgbClr val="475569"/>
                </a:solidFill>
              </a:rPr>
              <a:t>Evaluation Metrics Used</a:t>
            </a:r>
          </a:p>
          <a:p>
            <a:pPr marL="285750" indent="-285750">
              <a:spcBef>
                <a:spcPts val="600"/>
              </a:spcBef>
              <a:buFont typeface="Arial" panose="020B0604020202020204" pitchFamily="34" charset="0"/>
              <a:buChar char="•"/>
            </a:pPr>
            <a:r>
              <a:rPr lang="en-US" dirty="0">
                <a:solidFill>
                  <a:srgbClr val="475569"/>
                </a:solidFill>
              </a:rPr>
              <a:t>Accuracy – Overall correctness of predictions</a:t>
            </a:r>
          </a:p>
          <a:p>
            <a:pPr marL="285750" indent="-285750">
              <a:spcBef>
                <a:spcPts val="600"/>
              </a:spcBef>
              <a:buFont typeface="Arial" panose="020B0604020202020204" pitchFamily="34" charset="0"/>
              <a:buChar char="•"/>
            </a:pPr>
            <a:r>
              <a:rPr lang="en-US" dirty="0">
                <a:solidFill>
                  <a:srgbClr val="475569"/>
                </a:solidFill>
              </a:rPr>
              <a:t>Precision – Proportion of correctly predicted positive cases</a:t>
            </a:r>
          </a:p>
          <a:p>
            <a:pPr marL="285750" indent="-285750">
              <a:spcBef>
                <a:spcPts val="600"/>
              </a:spcBef>
              <a:buFont typeface="Arial" panose="020B0604020202020204" pitchFamily="34" charset="0"/>
              <a:buChar char="•"/>
            </a:pPr>
            <a:r>
              <a:rPr lang="en-US" dirty="0">
                <a:solidFill>
                  <a:srgbClr val="475569"/>
                </a:solidFill>
              </a:rPr>
              <a:t>Recall – Ability to identify actual Alzheimer’s cases</a:t>
            </a:r>
          </a:p>
          <a:p>
            <a:pPr marL="285750" indent="-285750">
              <a:spcBef>
                <a:spcPts val="600"/>
              </a:spcBef>
              <a:buFont typeface="Arial" panose="020B0604020202020204" pitchFamily="34" charset="0"/>
              <a:buChar char="•"/>
            </a:pPr>
            <a:r>
              <a:rPr lang="en-US" dirty="0">
                <a:solidFill>
                  <a:srgbClr val="475569"/>
                </a:solidFill>
              </a:rPr>
              <a:t>F1-Score – Balance between precision and recall</a:t>
            </a:r>
          </a:p>
        </p:txBody>
      </p:sp>
    </p:spTree>
    <p:extLst>
      <p:ext uri="{BB962C8B-B14F-4D97-AF65-F5344CB8AC3E}">
        <p14:creationId xmlns:p14="http://schemas.microsoft.com/office/powerpoint/2010/main" val="1610684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500"/>
                                        <p:tgtEl>
                                          <p:spTgt spid="12"/>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childTnLst>
                          </p:cTn>
                        </p:par>
                        <p:par>
                          <p:cTn id="28" fill="hold">
                            <p:stCondLst>
                              <p:cond delay="3000"/>
                            </p:stCondLst>
                            <p:childTnLst>
                              <p:par>
                                <p:cTn id="29" presetID="10" presetClass="entr" presetSubtype="0" fill="hold" grpId="0" nodeType="after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childTnLst>
                          </p:cTn>
                        </p:par>
                        <p:par>
                          <p:cTn id="32" fill="hold">
                            <p:stCondLst>
                              <p:cond delay="3500"/>
                            </p:stCondLst>
                            <p:childTnLst>
                              <p:par>
                                <p:cTn id="33" presetID="10" presetClass="entr" presetSubtype="0" fill="hold" grpId="0" nodeType="after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2" grpId="0" animBg="1"/>
      <p:bldP spid="6" grpId="0"/>
      <p:bldP spid="8" grpId="0"/>
      <p:bldP spid="9" grpId="0"/>
      <p:bldP spid="10" grpId="0"/>
      <p:bldP spid="13" grpId="0"/>
      <p:bldP spid="14"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a:extLst>
            <a:ext uri="{FF2B5EF4-FFF2-40B4-BE49-F238E27FC236}">
              <a16:creationId xmlns:a16="http://schemas.microsoft.com/office/drawing/2014/main" id="{DADDA995-3A62-21B9-2491-B337EE15B2C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FC92444-5C07-ED86-5939-88F150E8D91F}"/>
              </a:ext>
            </a:extLst>
          </p:cNvPr>
          <p:cNvSpPr txBox="1"/>
          <p:nvPr/>
        </p:nvSpPr>
        <p:spPr>
          <a:xfrm>
            <a:off x="625366" y="610748"/>
            <a:ext cx="7120758" cy="646331"/>
          </a:xfrm>
          <a:prstGeom prst="rect">
            <a:avLst/>
          </a:prstGeom>
          <a:noFill/>
        </p:spPr>
        <p:txBody>
          <a:bodyPr wrap="square">
            <a:spAutoFit/>
          </a:bodyPr>
          <a:lstStyle/>
          <a:p>
            <a:r>
              <a:rPr lang="en-IN" sz="3600" b="1" dirty="0">
                <a:solidFill>
                  <a:srgbClr val="0F172A"/>
                </a:solidFill>
              </a:rPr>
              <a:t>Model Performance Comparison</a:t>
            </a:r>
          </a:p>
        </p:txBody>
      </p:sp>
      <p:sp>
        <p:nvSpPr>
          <p:cNvPr id="6" name="TextBox 5">
            <a:extLst>
              <a:ext uri="{FF2B5EF4-FFF2-40B4-BE49-F238E27FC236}">
                <a16:creationId xmlns:a16="http://schemas.microsoft.com/office/drawing/2014/main" id="{B02FC4D9-EC0D-16C7-C241-983E852EB18D}"/>
              </a:ext>
            </a:extLst>
          </p:cNvPr>
          <p:cNvSpPr txBox="1"/>
          <p:nvPr/>
        </p:nvSpPr>
        <p:spPr>
          <a:xfrm>
            <a:off x="625366" y="1362550"/>
            <a:ext cx="5318232" cy="461665"/>
          </a:xfrm>
          <a:prstGeom prst="rect">
            <a:avLst/>
          </a:prstGeom>
          <a:noFill/>
        </p:spPr>
        <p:txBody>
          <a:bodyPr wrap="square">
            <a:spAutoFit/>
          </a:bodyPr>
          <a:lstStyle/>
          <a:p>
            <a:pPr>
              <a:spcBef>
                <a:spcPts val="600"/>
              </a:spcBef>
            </a:pPr>
            <a:r>
              <a:rPr lang="en-US" sz="2400" dirty="0">
                <a:solidFill>
                  <a:srgbClr val="0EA5A4"/>
                </a:solidFill>
              </a:rPr>
              <a:t>Section 1: Comparison Overview</a:t>
            </a:r>
          </a:p>
        </p:txBody>
      </p:sp>
      <p:sp>
        <p:nvSpPr>
          <p:cNvPr id="8" name="TextBox 7">
            <a:extLst>
              <a:ext uri="{FF2B5EF4-FFF2-40B4-BE49-F238E27FC236}">
                <a16:creationId xmlns:a16="http://schemas.microsoft.com/office/drawing/2014/main" id="{8086C6E0-D549-BE13-2D5D-E7F6ABEB87BC}"/>
              </a:ext>
            </a:extLst>
          </p:cNvPr>
          <p:cNvSpPr txBox="1"/>
          <p:nvPr/>
        </p:nvSpPr>
        <p:spPr>
          <a:xfrm>
            <a:off x="625365" y="1824214"/>
            <a:ext cx="5318232" cy="1754326"/>
          </a:xfrm>
          <a:prstGeom prst="rect">
            <a:avLst/>
          </a:prstGeom>
          <a:noFill/>
        </p:spPr>
        <p:txBody>
          <a:bodyPr wrap="square">
            <a:spAutoFit/>
          </a:bodyPr>
          <a:lstStyle/>
          <a:p>
            <a:r>
              <a:rPr lang="en-US" b="1" dirty="0">
                <a:solidFill>
                  <a:srgbClr val="475569"/>
                </a:solidFill>
              </a:rPr>
              <a:t>Overview</a:t>
            </a:r>
          </a:p>
          <a:p>
            <a:pPr marL="285750" indent="-285750">
              <a:buFont typeface="Arial" panose="020B0604020202020204" pitchFamily="34" charset="0"/>
              <a:buChar char="•"/>
            </a:pPr>
            <a:r>
              <a:rPr lang="en-US" dirty="0">
                <a:solidFill>
                  <a:srgbClr val="475569"/>
                </a:solidFill>
              </a:rPr>
              <a:t>All models were evaluated using the same test dataset</a:t>
            </a:r>
          </a:p>
          <a:p>
            <a:pPr marL="285750" indent="-285750">
              <a:buFont typeface="Arial" panose="020B0604020202020204" pitchFamily="34" charset="0"/>
              <a:buChar char="•"/>
            </a:pPr>
            <a:r>
              <a:rPr lang="en-US" dirty="0">
                <a:solidFill>
                  <a:srgbClr val="475569"/>
                </a:solidFill>
              </a:rPr>
              <a:t>Performance was compared across Accuracy, Precision, Recall, and F1-score</a:t>
            </a:r>
          </a:p>
          <a:p>
            <a:pPr marL="285750" indent="-285750">
              <a:buFont typeface="Arial" panose="020B0604020202020204" pitchFamily="34" charset="0"/>
              <a:buChar char="•"/>
            </a:pPr>
            <a:r>
              <a:rPr lang="en-US" dirty="0">
                <a:solidFill>
                  <a:srgbClr val="475569"/>
                </a:solidFill>
              </a:rPr>
              <a:t>This ensures objective and unbiased comparison</a:t>
            </a:r>
          </a:p>
        </p:txBody>
      </p:sp>
      <p:sp>
        <p:nvSpPr>
          <p:cNvPr id="9" name="TextBox 8">
            <a:extLst>
              <a:ext uri="{FF2B5EF4-FFF2-40B4-BE49-F238E27FC236}">
                <a16:creationId xmlns:a16="http://schemas.microsoft.com/office/drawing/2014/main" id="{B61B571D-67A4-E4D7-CEC8-15DA5E2724B0}"/>
              </a:ext>
            </a:extLst>
          </p:cNvPr>
          <p:cNvSpPr txBox="1"/>
          <p:nvPr/>
        </p:nvSpPr>
        <p:spPr>
          <a:xfrm>
            <a:off x="625364" y="3578540"/>
            <a:ext cx="5381299" cy="461665"/>
          </a:xfrm>
          <a:prstGeom prst="rect">
            <a:avLst/>
          </a:prstGeom>
          <a:noFill/>
        </p:spPr>
        <p:txBody>
          <a:bodyPr wrap="square">
            <a:spAutoFit/>
          </a:bodyPr>
          <a:lstStyle/>
          <a:p>
            <a:pPr>
              <a:spcBef>
                <a:spcPts val="600"/>
              </a:spcBef>
            </a:pPr>
            <a:r>
              <a:rPr lang="en-US" sz="2400" dirty="0">
                <a:solidFill>
                  <a:srgbClr val="0EA5A4"/>
                </a:solidFill>
              </a:rPr>
              <a:t>Section 3: Key Observations</a:t>
            </a:r>
          </a:p>
        </p:txBody>
      </p:sp>
      <p:sp>
        <p:nvSpPr>
          <p:cNvPr id="10" name="TextBox 9">
            <a:extLst>
              <a:ext uri="{FF2B5EF4-FFF2-40B4-BE49-F238E27FC236}">
                <a16:creationId xmlns:a16="http://schemas.microsoft.com/office/drawing/2014/main" id="{058BAAF8-E406-1923-2B89-00651844B9BB}"/>
              </a:ext>
            </a:extLst>
          </p:cNvPr>
          <p:cNvSpPr txBox="1"/>
          <p:nvPr/>
        </p:nvSpPr>
        <p:spPr>
          <a:xfrm>
            <a:off x="625364" y="4040204"/>
            <a:ext cx="5318233" cy="2262158"/>
          </a:xfrm>
          <a:prstGeom prst="rect">
            <a:avLst/>
          </a:prstGeom>
          <a:noFill/>
        </p:spPr>
        <p:txBody>
          <a:bodyPr wrap="square">
            <a:spAutoFit/>
          </a:bodyPr>
          <a:lstStyle/>
          <a:p>
            <a:pPr>
              <a:spcBef>
                <a:spcPts val="600"/>
              </a:spcBef>
            </a:pPr>
            <a:r>
              <a:rPr lang="en-US" dirty="0">
                <a:solidFill>
                  <a:srgbClr val="475569"/>
                </a:solidFill>
              </a:rPr>
              <a:t>Key Observations</a:t>
            </a:r>
          </a:p>
          <a:p>
            <a:pPr marL="285750" indent="-285750">
              <a:spcBef>
                <a:spcPts val="600"/>
              </a:spcBef>
              <a:buFont typeface="Arial" panose="020B0604020202020204" pitchFamily="34" charset="0"/>
              <a:buChar char="•"/>
            </a:pPr>
            <a:r>
              <a:rPr lang="en-US" dirty="0">
                <a:solidFill>
                  <a:srgbClr val="475569"/>
                </a:solidFill>
              </a:rPr>
              <a:t>Ensemble and boosting models generally show stronger performance</a:t>
            </a:r>
          </a:p>
          <a:p>
            <a:pPr marL="285750" indent="-285750">
              <a:spcBef>
                <a:spcPts val="600"/>
              </a:spcBef>
              <a:buFont typeface="Arial" panose="020B0604020202020204" pitchFamily="34" charset="0"/>
              <a:buChar char="•"/>
            </a:pPr>
            <a:r>
              <a:rPr lang="en-US" dirty="0">
                <a:solidFill>
                  <a:srgbClr val="475569"/>
                </a:solidFill>
              </a:rPr>
              <a:t>Baseline models provide useful reference benchmarks</a:t>
            </a:r>
          </a:p>
          <a:p>
            <a:pPr marL="285750" indent="-285750">
              <a:spcBef>
                <a:spcPts val="600"/>
              </a:spcBef>
              <a:buFont typeface="Arial" panose="020B0604020202020204" pitchFamily="34" charset="0"/>
              <a:buChar char="•"/>
            </a:pPr>
            <a:r>
              <a:rPr lang="en-US" dirty="0">
                <a:solidFill>
                  <a:srgbClr val="475569"/>
                </a:solidFill>
              </a:rPr>
              <a:t>Performance varies across metrics, reinforcing the need for multi-metric evaluation</a:t>
            </a:r>
          </a:p>
        </p:txBody>
      </p:sp>
      <p:sp>
        <p:nvSpPr>
          <p:cNvPr id="13" name="TextBox 12">
            <a:extLst>
              <a:ext uri="{FF2B5EF4-FFF2-40B4-BE49-F238E27FC236}">
                <a16:creationId xmlns:a16="http://schemas.microsoft.com/office/drawing/2014/main" id="{BDA3248D-A2A5-7C6C-D29F-1C678DA102C2}"/>
              </a:ext>
            </a:extLst>
          </p:cNvPr>
          <p:cNvSpPr txBox="1"/>
          <p:nvPr/>
        </p:nvSpPr>
        <p:spPr>
          <a:xfrm>
            <a:off x="6248404" y="1363619"/>
            <a:ext cx="5318230" cy="830997"/>
          </a:xfrm>
          <a:prstGeom prst="rect">
            <a:avLst/>
          </a:prstGeom>
          <a:noFill/>
        </p:spPr>
        <p:txBody>
          <a:bodyPr wrap="square">
            <a:spAutoFit/>
          </a:bodyPr>
          <a:lstStyle/>
          <a:p>
            <a:pPr>
              <a:spcBef>
                <a:spcPts val="600"/>
              </a:spcBef>
            </a:pPr>
            <a:r>
              <a:rPr lang="en-US" sz="2400" dirty="0">
                <a:solidFill>
                  <a:srgbClr val="0EA5A4"/>
                </a:solidFill>
              </a:rPr>
              <a:t>Section 2: Performance Summary (Main Content)</a:t>
            </a:r>
          </a:p>
        </p:txBody>
      </p:sp>
      <p:sp>
        <p:nvSpPr>
          <p:cNvPr id="14" name="TextBox 13">
            <a:extLst>
              <a:ext uri="{FF2B5EF4-FFF2-40B4-BE49-F238E27FC236}">
                <a16:creationId xmlns:a16="http://schemas.microsoft.com/office/drawing/2014/main" id="{59826C29-2F05-060E-BED2-BA32CA352069}"/>
              </a:ext>
            </a:extLst>
          </p:cNvPr>
          <p:cNvSpPr txBox="1"/>
          <p:nvPr/>
        </p:nvSpPr>
        <p:spPr>
          <a:xfrm>
            <a:off x="6248402" y="2194616"/>
            <a:ext cx="5318232" cy="369332"/>
          </a:xfrm>
          <a:prstGeom prst="rect">
            <a:avLst/>
          </a:prstGeom>
          <a:noFill/>
        </p:spPr>
        <p:txBody>
          <a:bodyPr wrap="square">
            <a:spAutoFit/>
          </a:bodyPr>
          <a:lstStyle/>
          <a:p>
            <a:pPr>
              <a:spcBef>
                <a:spcPts val="600"/>
              </a:spcBef>
            </a:pPr>
            <a:r>
              <a:rPr lang="en-US" b="1" dirty="0">
                <a:solidFill>
                  <a:srgbClr val="475569"/>
                </a:solidFill>
              </a:rPr>
              <a:t>Model Performance Summary</a:t>
            </a:r>
          </a:p>
        </p:txBody>
      </p:sp>
      <p:graphicFrame>
        <p:nvGraphicFramePr>
          <p:cNvPr id="3" name="Table 2">
            <a:extLst>
              <a:ext uri="{FF2B5EF4-FFF2-40B4-BE49-F238E27FC236}">
                <a16:creationId xmlns:a16="http://schemas.microsoft.com/office/drawing/2014/main" id="{4C1BBAEF-3FE3-BB08-4298-323DEEC1A87A}"/>
              </a:ext>
            </a:extLst>
          </p:cNvPr>
          <p:cNvGraphicFramePr>
            <a:graphicFrameLocks noGrp="1"/>
          </p:cNvGraphicFramePr>
          <p:nvPr>
            <p:extLst>
              <p:ext uri="{D42A27DB-BD31-4B8C-83A1-F6EECF244321}">
                <p14:modId xmlns:p14="http://schemas.microsoft.com/office/powerpoint/2010/main" val="2331151319"/>
              </p:ext>
            </p:extLst>
          </p:nvPr>
        </p:nvGraphicFramePr>
        <p:xfrm>
          <a:off x="6248402" y="2695946"/>
          <a:ext cx="5561726" cy="3551306"/>
        </p:xfrm>
        <a:graphic>
          <a:graphicData uri="http://schemas.openxmlformats.org/drawingml/2006/table">
            <a:tbl>
              <a:tblPr>
                <a:tableStyleId>{5940675A-B579-460E-94D1-54222C63F5DA}</a:tableStyleId>
              </a:tblPr>
              <a:tblGrid>
                <a:gridCol w="1172921">
                  <a:extLst>
                    <a:ext uri="{9D8B030D-6E8A-4147-A177-3AD203B41FA5}">
                      <a16:colId xmlns:a16="http://schemas.microsoft.com/office/drawing/2014/main" val="3650871789"/>
                    </a:ext>
                  </a:extLst>
                </a:gridCol>
                <a:gridCol w="877761">
                  <a:extLst>
                    <a:ext uri="{9D8B030D-6E8A-4147-A177-3AD203B41FA5}">
                      <a16:colId xmlns:a16="http://schemas.microsoft.com/office/drawing/2014/main" val="3073698946"/>
                    </a:ext>
                  </a:extLst>
                </a:gridCol>
                <a:gridCol w="877761">
                  <a:extLst>
                    <a:ext uri="{9D8B030D-6E8A-4147-A177-3AD203B41FA5}">
                      <a16:colId xmlns:a16="http://schemas.microsoft.com/office/drawing/2014/main" val="1300330943"/>
                    </a:ext>
                  </a:extLst>
                </a:gridCol>
                <a:gridCol w="877761">
                  <a:extLst>
                    <a:ext uri="{9D8B030D-6E8A-4147-A177-3AD203B41FA5}">
                      <a16:colId xmlns:a16="http://schemas.microsoft.com/office/drawing/2014/main" val="4115931839"/>
                    </a:ext>
                  </a:extLst>
                </a:gridCol>
                <a:gridCol w="877761">
                  <a:extLst>
                    <a:ext uri="{9D8B030D-6E8A-4147-A177-3AD203B41FA5}">
                      <a16:colId xmlns:a16="http://schemas.microsoft.com/office/drawing/2014/main" val="1847093832"/>
                    </a:ext>
                  </a:extLst>
                </a:gridCol>
                <a:gridCol w="877761">
                  <a:extLst>
                    <a:ext uri="{9D8B030D-6E8A-4147-A177-3AD203B41FA5}">
                      <a16:colId xmlns:a16="http://schemas.microsoft.com/office/drawing/2014/main" val="3247207457"/>
                    </a:ext>
                  </a:extLst>
                </a:gridCol>
              </a:tblGrid>
              <a:tr h="0">
                <a:tc>
                  <a:txBody>
                    <a:bodyPr/>
                    <a:lstStyle/>
                    <a:p>
                      <a:pPr algn="l">
                        <a:buNone/>
                      </a:pPr>
                      <a:r>
                        <a:rPr lang="en-IN" sz="1200" b="1" dirty="0"/>
                        <a:t>Model</a:t>
                      </a:r>
                      <a:endParaRPr lang="en-IN" sz="1200" dirty="0"/>
                    </a:p>
                  </a:txBody>
                  <a:tcPr marL="62162" marR="62162" marT="31081" marB="31081" anchor="ctr"/>
                </a:tc>
                <a:tc>
                  <a:txBody>
                    <a:bodyPr/>
                    <a:lstStyle/>
                    <a:p>
                      <a:pPr algn="l">
                        <a:buNone/>
                      </a:pPr>
                      <a:r>
                        <a:rPr lang="en-IN" sz="1200" b="1" dirty="0"/>
                        <a:t>Accuracy</a:t>
                      </a:r>
                      <a:endParaRPr lang="en-IN" sz="1200" dirty="0"/>
                    </a:p>
                  </a:txBody>
                  <a:tcPr marL="62162" marR="62162" marT="31081" marB="31081" anchor="ctr"/>
                </a:tc>
                <a:tc>
                  <a:txBody>
                    <a:bodyPr/>
                    <a:lstStyle/>
                    <a:p>
                      <a:pPr algn="l">
                        <a:buNone/>
                      </a:pPr>
                      <a:r>
                        <a:rPr lang="en-IN" sz="1200" b="1" dirty="0"/>
                        <a:t>Precision</a:t>
                      </a:r>
                      <a:endParaRPr lang="en-IN" sz="1200" dirty="0"/>
                    </a:p>
                  </a:txBody>
                  <a:tcPr marL="62162" marR="62162" marT="31081" marB="31081" anchor="ctr"/>
                </a:tc>
                <a:tc>
                  <a:txBody>
                    <a:bodyPr/>
                    <a:lstStyle/>
                    <a:p>
                      <a:pPr algn="l">
                        <a:buNone/>
                      </a:pPr>
                      <a:r>
                        <a:rPr lang="en-IN" sz="1200" b="1"/>
                        <a:t>Recall</a:t>
                      </a:r>
                      <a:endParaRPr lang="en-IN" sz="1200"/>
                    </a:p>
                  </a:txBody>
                  <a:tcPr marL="62162" marR="62162" marT="31081" marB="31081" anchor="ctr"/>
                </a:tc>
                <a:tc>
                  <a:txBody>
                    <a:bodyPr/>
                    <a:lstStyle/>
                    <a:p>
                      <a:pPr algn="l">
                        <a:buNone/>
                      </a:pPr>
                      <a:r>
                        <a:rPr lang="en-IN" sz="1200" b="1"/>
                        <a:t>F1-Score</a:t>
                      </a:r>
                      <a:endParaRPr lang="en-IN" sz="1200"/>
                    </a:p>
                  </a:txBody>
                  <a:tcPr marL="62162" marR="62162" marT="31081" marB="31081" anchor="ctr"/>
                </a:tc>
                <a:tc>
                  <a:txBody>
                    <a:bodyPr/>
                    <a:lstStyle/>
                    <a:p>
                      <a:pPr algn="l">
                        <a:buNone/>
                      </a:pPr>
                      <a:r>
                        <a:rPr lang="en-IN" sz="1200" b="1"/>
                        <a:t>AUC</a:t>
                      </a:r>
                      <a:endParaRPr lang="en-IN" sz="1200"/>
                    </a:p>
                  </a:txBody>
                  <a:tcPr marL="62162" marR="62162" marT="31081" marB="31081" anchor="ctr"/>
                </a:tc>
                <a:extLst>
                  <a:ext uri="{0D108BD9-81ED-4DB2-BD59-A6C34878D82A}">
                    <a16:rowId xmlns:a16="http://schemas.microsoft.com/office/drawing/2014/main" val="928905279"/>
                  </a:ext>
                </a:extLst>
              </a:tr>
              <a:tr h="0">
                <a:tc>
                  <a:txBody>
                    <a:bodyPr/>
                    <a:lstStyle/>
                    <a:p>
                      <a:pPr algn="l">
                        <a:buNone/>
                      </a:pPr>
                      <a:r>
                        <a:rPr lang="en-IN" sz="1200" dirty="0"/>
                        <a:t>Logistic Regression</a:t>
                      </a:r>
                    </a:p>
                  </a:txBody>
                  <a:tcPr marL="62162" marR="62162" marT="31081" marB="31081" anchor="ctr"/>
                </a:tc>
                <a:tc>
                  <a:txBody>
                    <a:bodyPr/>
                    <a:lstStyle/>
                    <a:p>
                      <a:pPr algn="l">
                        <a:buNone/>
                      </a:pPr>
                      <a:r>
                        <a:rPr lang="en-IN" sz="1200"/>
                        <a:t>0.7860</a:t>
                      </a:r>
                    </a:p>
                  </a:txBody>
                  <a:tcPr marL="62162" marR="62162" marT="31081" marB="31081" anchor="ctr"/>
                </a:tc>
                <a:tc>
                  <a:txBody>
                    <a:bodyPr/>
                    <a:lstStyle/>
                    <a:p>
                      <a:pPr algn="l">
                        <a:buNone/>
                      </a:pPr>
                      <a:r>
                        <a:rPr lang="en-IN" sz="1200"/>
                        <a:t>0.7381</a:t>
                      </a:r>
                    </a:p>
                  </a:txBody>
                  <a:tcPr marL="62162" marR="62162" marT="31081" marB="31081" anchor="ctr"/>
                </a:tc>
                <a:tc>
                  <a:txBody>
                    <a:bodyPr/>
                    <a:lstStyle/>
                    <a:p>
                      <a:pPr algn="l">
                        <a:buNone/>
                      </a:pPr>
                      <a:r>
                        <a:rPr lang="en-IN" sz="1200"/>
                        <a:t>0.6118</a:t>
                      </a:r>
                    </a:p>
                  </a:txBody>
                  <a:tcPr marL="62162" marR="62162" marT="31081" marB="31081" anchor="ctr"/>
                </a:tc>
                <a:tc>
                  <a:txBody>
                    <a:bodyPr/>
                    <a:lstStyle/>
                    <a:p>
                      <a:pPr algn="l">
                        <a:buNone/>
                      </a:pPr>
                      <a:r>
                        <a:rPr lang="en-IN" sz="1200"/>
                        <a:t>0.6691</a:t>
                      </a:r>
                    </a:p>
                  </a:txBody>
                  <a:tcPr marL="62162" marR="62162" marT="31081" marB="31081" anchor="ctr"/>
                </a:tc>
                <a:tc>
                  <a:txBody>
                    <a:bodyPr/>
                    <a:lstStyle/>
                    <a:p>
                      <a:pPr algn="l">
                        <a:buNone/>
                      </a:pPr>
                      <a:r>
                        <a:rPr lang="en-IN" sz="1200"/>
                        <a:t>0.8370</a:t>
                      </a:r>
                    </a:p>
                  </a:txBody>
                  <a:tcPr marL="62162" marR="62162" marT="31081" marB="31081" anchor="ctr"/>
                </a:tc>
                <a:extLst>
                  <a:ext uri="{0D108BD9-81ED-4DB2-BD59-A6C34878D82A}">
                    <a16:rowId xmlns:a16="http://schemas.microsoft.com/office/drawing/2014/main" val="1071376772"/>
                  </a:ext>
                </a:extLst>
              </a:tr>
              <a:tr h="0">
                <a:tc>
                  <a:txBody>
                    <a:bodyPr/>
                    <a:lstStyle/>
                    <a:p>
                      <a:pPr algn="l">
                        <a:buNone/>
                      </a:pPr>
                      <a:r>
                        <a:rPr lang="en-IN" sz="1200" dirty="0"/>
                        <a:t>SVM</a:t>
                      </a:r>
                    </a:p>
                  </a:txBody>
                  <a:tcPr marL="62162" marR="62162" marT="31081" marB="31081" anchor="ctr"/>
                </a:tc>
                <a:tc>
                  <a:txBody>
                    <a:bodyPr/>
                    <a:lstStyle/>
                    <a:p>
                      <a:pPr algn="l">
                        <a:buNone/>
                      </a:pPr>
                      <a:r>
                        <a:rPr lang="en-IN" sz="1200" dirty="0"/>
                        <a:t>0.7767</a:t>
                      </a:r>
                    </a:p>
                  </a:txBody>
                  <a:tcPr marL="62162" marR="62162" marT="31081" marB="31081" anchor="ctr"/>
                </a:tc>
                <a:tc>
                  <a:txBody>
                    <a:bodyPr/>
                    <a:lstStyle/>
                    <a:p>
                      <a:pPr algn="l">
                        <a:buNone/>
                      </a:pPr>
                      <a:r>
                        <a:rPr lang="en-IN" sz="1200"/>
                        <a:t>0.7857</a:t>
                      </a:r>
                    </a:p>
                  </a:txBody>
                  <a:tcPr marL="62162" marR="62162" marT="31081" marB="31081" anchor="ctr"/>
                </a:tc>
                <a:tc>
                  <a:txBody>
                    <a:bodyPr/>
                    <a:lstStyle/>
                    <a:p>
                      <a:pPr algn="l">
                        <a:buNone/>
                      </a:pPr>
                      <a:r>
                        <a:rPr lang="en-IN" sz="1200"/>
                        <a:t>0.5066</a:t>
                      </a:r>
                    </a:p>
                  </a:txBody>
                  <a:tcPr marL="62162" marR="62162" marT="31081" marB="31081" anchor="ctr"/>
                </a:tc>
                <a:tc>
                  <a:txBody>
                    <a:bodyPr/>
                    <a:lstStyle/>
                    <a:p>
                      <a:pPr algn="l">
                        <a:buNone/>
                      </a:pPr>
                      <a:r>
                        <a:rPr lang="en-IN" sz="1200"/>
                        <a:t>0.6160</a:t>
                      </a:r>
                    </a:p>
                  </a:txBody>
                  <a:tcPr marL="62162" marR="62162" marT="31081" marB="31081" anchor="ctr"/>
                </a:tc>
                <a:tc>
                  <a:txBody>
                    <a:bodyPr/>
                    <a:lstStyle/>
                    <a:p>
                      <a:pPr algn="l">
                        <a:buNone/>
                      </a:pPr>
                      <a:r>
                        <a:rPr lang="en-IN" sz="1200"/>
                        <a:t>0.8259</a:t>
                      </a:r>
                    </a:p>
                  </a:txBody>
                  <a:tcPr marL="62162" marR="62162" marT="31081" marB="31081" anchor="ctr"/>
                </a:tc>
                <a:extLst>
                  <a:ext uri="{0D108BD9-81ED-4DB2-BD59-A6C34878D82A}">
                    <a16:rowId xmlns:a16="http://schemas.microsoft.com/office/drawing/2014/main" val="1781819752"/>
                  </a:ext>
                </a:extLst>
              </a:tr>
              <a:tr h="0">
                <a:tc>
                  <a:txBody>
                    <a:bodyPr/>
                    <a:lstStyle/>
                    <a:p>
                      <a:pPr algn="l">
                        <a:buNone/>
                      </a:pPr>
                      <a:r>
                        <a:rPr lang="en-IN" sz="1200"/>
                        <a:t>Decision Tree</a:t>
                      </a:r>
                    </a:p>
                  </a:txBody>
                  <a:tcPr marL="62162" marR="62162" marT="31081" marB="31081" anchor="ctr"/>
                </a:tc>
                <a:tc>
                  <a:txBody>
                    <a:bodyPr/>
                    <a:lstStyle/>
                    <a:p>
                      <a:pPr algn="l">
                        <a:buNone/>
                      </a:pPr>
                      <a:r>
                        <a:rPr lang="en-IN" sz="1200"/>
                        <a:t>0.7372</a:t>
                      </a:r>
                    </a:p>
                  </a:txBody>
                  <a:tcPr marL="62162" marR="62162" marT="31081" marB="31081" anchor="ctr"/>
                </a:tc>
                <a:tc>
                  <a:txBody>
                    <a:bodyPr/>
                    <a:lstStyle/>
                    <a:p>
                      <a:pPr algn="l">
                        <a:buNone/>
                      </a:pPr>
                      <a:r>
                        <a:rPr lang="en-IN" sz="1200"/>
                        <a:t>0.6226</a:t>
                      </a:r>
                    </a:p>
                  </a:txBody>
                  <a:tcPr marL="62162" marR="62162" marT="31081" marB="31081" anchor="ctr"/>
                </a:tc>
                <a:tc>
                  <a:txBody>
                    <a:bodyPr/>
                    <a:lstStyle/>
                    <a:p>
                      <a:pPr algn="l">
                        <a:buNone/>
                      </a:pPr>
                      <a:r>
                        <a:rPr lang="en-IN" sz="1200"/>
                        <a:t>0.6513</a:t>
                      </a:r>
                    </a:p>
                  </a:txBody>
                  <a:tcPr marL="62162" marR="62162" marT="31081" marB="31081" anchor="ctr"/>
                </a:tc>
                <a:tc>
                  <a:txBody>
                    <a:bodyPr/>
                    <a:lstStyle/>
                    <a:p>
                      <a:pPr algn="l">
                        <a:buNone/>
                      </a:pPr>
                      <a:r>
                        <a:rPr lang="en-IN" sz="1200"/>
                        <a:t>0.6367</a:t>
                      </a:r>
                    </a:p>
                  </a:txBody>
                  <a:tcPr marL="62162" marR="62162" marT="31081" marB="31081" anchor="ctr"/>
                </a:tc>
                <a:tc>
                  <a:txBody>
                    <a:bodyPr/>
                    <a:lstStyle/>
                    <a:p>
                      <a:pPr algn="l">
                        <a:buNone/>
                      </a:pPr>
                      <a:r>
                        <a:rPr lang="en-IN" sz="1200"/>
                        <a:t>0.7177</a:t>
                      </a:r>
                    </a:p>
                  </a:txBody>
                  <a:tcPr marL="62162" marR="62162" marT="31081" marB="31081" anchor="ctr"/>
                </a:tc>
                <a:extLst>
                  <a:ext uri="{0D108BD9-81ED-4DB2-BD59-A6C34878D82A}">
                    <a16:rowId xmlns:a16="http://schemas.microsoft.com/office/drawing/2014/main" val="1965278932"/>
                  </a:ext>
                </a:extLst>
              </a:tr>
              <a:tr h="0">
                <a:tc>
                  <a:txBody>
                    <a:bodyPr/>
                    <a:lstStyle/>
                    <a:p>
                      <a:pPr algn="l">
                        <a:buNone/>
                      </a:pPr>
                      <a:r>
                        <a:rPr lang="en-IN" sz="1200" dirty="0"/>
                        <a:t>Random Forest</a:t>
                      </a:r>
                    </a:p>
                  </a:txBody>
                  <a:tcPr marL="62162" marR="62162" marT="31081" marB="31081" anchor="ctr"/>
                </a:tc>
                <a:tc>
                  <a:txBody>
                    <a:bodyPr/>
                    <a:lstStyle/>
                    <a:p>
                      <a:pPr algn="l">
                        <a:buNone/>
                      </a:pPr>
                      <a:r>
                        <a:rPr lang="en-IN" sz="1200"/>
                        <a:t>0.8326</a:t>
                      </a:r>
                    </a:p>
                  </a:txBody>
                  <a:tcPr marL="62162" marR="62162" marT="31081" marB="31081" anchor="ctr"/>
                </a:tc>
                <a:tc>
                  <a:txBody>
                    <a:bodyPr/>
                    <a:lstStyle/>
                    <a:p>
                      <a:pPr algn="l">
                        <a:buNone/>
                      </a:pPr>
                      <a:r>
                        <a:rPr lang="en-IN" sz="1200"/>
                        <a:t>0.9255</a:t>
                      </a:r>
                    </a:p>
                  </a:txBody>
                  <a:tcPr marL="62162" marR="62162" marT="31081" marB="31081" anchor="ctr"/>
                </a:tc>
                <a:tc>
                  <a:txBody>
                    <a:bodyPr/>
                    <a:lstStyle/>
                    <a:p>
                      <a:pPr algn="l">
                        <a:buNone/>
                      </a:pPr>
                      <a:r>
                        <a:rPr lang="en-IN" sz="1200"/>
                        <a:t>0.5724</a:t>
                      </a:r>
                    </a:p>
                  </a:txBody>
                  <a:tcPr marL="62162" marR="62162" marT="31081" marB="31081" anchor="ctr"/>
                </a:tc>
                <a:tc>
                  <a:txBody>
                    <a:bodyPr/>
                    <a:lstStyle/>
                    <a:p>
                      <a:pPr algn="l">
                        <a:buNone/>
                      </a:pPr>
                      <a:r>
                        <a:rPr lang="en-IN" sz="1200"/>
                        <a:t>0.7073</a:t>
                      </a:r>
                    </a:p>
                  </a:txBody>
                  <a:tcPr marL="62162" marR="62162" marT="31081" marB="31081" anchor="ctr"/>
                </a:tc>
                <a:tc>
                  <a:txBody>
                    <a:bodyPr/>
                    <a:lstStyle/>
                    <a:p>
                      <a:pPr algn="l">
                        <a:buNone/>
                      </a:pPr>
                      <a:r>
                        <a:rPr lang="en-IN" sz="1200"/>
                        <a:t>0.8786</a:t>
                      </a:r>
                    </a:p>
                  </a:txBody>
                  <a:tcPr marL="62162" marR="62162" marT="31081" marB="31081" anchor="ctr"/>
                </a:tc>
                <a:extLst>
                  <a:ext uri="{0D108BD9-81ED-4DB2-BD59-A6C34878D82A}">
                    <a16:rowId xmlns:a16="http://schemas.microsoft.com/office/drawing/2014/main" val="1514237225"/>
                  </a:ext>
                </a:extLst>
              </a:tr>
              <a:tr h="0">
                <a:tc>
                  <a:txBody>
                    <a:bodyPr/>
                    <a:lstStyle/>
                    <a:p>
                      <a:pPr algn="l">
                        <a:buNone/>
                      </a:pPr>
                      <a:r>
                        <a:rPr lang="en-IN" sz="1200"/>
                        <a:t>Gradient Boosting</a:t>
                      </a:r>
                    </a:p>
                  </a:txBody>
                  <a:tcPr marL="62162" marR="62162" marT="31081" marB="31081" anchor="ctr"/>
                </a:tc>
                <a:tc>
                  <a:txBody>
                    <a:bodyPr/>
                    <a:lstStyle/>
                    <a:p>
                      <a:pPr algn="l">
                        <a:buNone/>
                      </a:pPr>
                      <a:r>
                        <a:rPr lang="en-IN" sz="1200"/>
                        <a:t>0.8326</a:t>
                      </a:r>
                    </a:p>
                  </a:txBody>
                  <a:tcPr marL="62162" marR="62162" marT="31081" marB="31081" anchor="ctr"/>
                </a:tc>
                <a:tc>
                  <a:txBody>
                    <a:bodyPr/>
                    <a:lstStyle/>
                    <a:p>
                      <a:pPr algn="l">
                        <a:buNone/>
                      </a:pPr>
                      <a:r>
                        <a:rPr lang="en-IN" sz="1200" dirty="0"/>
                        <a:t>0.8846</a:t>
                      </a:r>
                    </a:p>
                  </a:txBody>
                  <a:tcPr marL="62162" marR="62162" marT="31081" marB="31081" anchor="ctr"/>
                </a:tc>
                <a:tc>
                  <a:txBody>
                    <a:bodyPr/>
                    <a:lstStyle/>
                    <a:p>
                      <a:pPr algn="l">
                        <a:buNone/>
                      </a:pPr>
                      <a:r>
                        <a:rPr lang="en-IN" sz="1200"/>
                        <a:t>0.6053</a:t>
                      </a:r>
                    </a:p>
                  </a:txBody>
                  <a:tcPr marL="62162" marR="62162" marT="31081" marB="31081" anchor="ctr"/>
                </a:tc>
                <a:tc>
                  <a:txBody>
                    <a:bodyPr/>
                    <a:lstStyle/>
                    <a:p>
                      <a:pPr algn="l">
                        <a:buNone/>
                      </a:pPr>
                      <a:r>
                        <a:rPr lang="en-IN" sz="1200"/>
                        <a:t>0.7188</a:t>
                      </a:r>
                    </a:p>
                  </a:txBody>
                  <a:tcPr marL="62162" marR="62162" marT="31081" marB="31081" anchor="ctr"/>
                </a:tc>
                <a:tc>
                  <a:txBody>
                    <a:bodyPr/>
                    <a:lstStyle/>
                    <a:p>
                      <a:pPr algn="l">
                        <a:buNone/>
                      </a:pPr>
                      <a:r>
                        <a:rPr lang="en-IN" sz="1200"/>
                        <a:t>0.8824</a:t>
                      </a:r>
                    </a:p>
                  </a:txBody>
                  <a:tcPr marL="62162" marR="62162" marT="31081" marB="31081" anchor="ctr"/>
                </a:tc>
                <a:extLst>
                  <a:ext uri="{0D108BD9-81ED-4DB2-BD59-A6C34878D82A}">
                    <a16:rowId xmlns:a16="http://schemas.microsoft.com/office/drawing/2014/main" val="3571527339"/>
                  </a:ext>
                </a:extLst>
              </a:tr>
              <a:tr h="0">
                <a:tc>
                  <a:txBody>
                    <a:bodyPr/>
                    <a:lstStyle/>
                    <a:p>
                      <a:pPr algn="l">
                        <a:buNone/>
                      </a:pPr>
                      <a:r>
                        <a:rPr lang="en-IN" sz="1200"/>
                        <a:t>XGBoost</a:t>
                      </a:r>
                    </a:p>
                  </a:txBody>
                  <a:tcPr marL="62162" marR="62162" marT="31081" marB="31081" anchor="ctr"/>
                </a:tc>
                <a:tc>
                  <a:txBody>
                    <a:bodyPr/>
                    <a:lstStyle/>
                    <a:p>
                      <a:pPr algn="l">
                        <a:buNone/>
                      </a:pPr>
                      <a:r>
                        <a:rPr lang="en-IN" sz="1200"/>
                        <a:t>0.8209</a:t>
                      </a:r>
                    </a:p>
                  </a:txBody>
                  <a:tcPr marL="62162" marR="62162" marT="31081" marB="31081" anchor="ctr"/>
                </a:tc>
                <a:tc>
                  <a:txBody>
                    <a:bodyPr/>
                    <a:lstStyle/>
                    <a:p>
                      <a:pPr algn="l">
                        <a:buNone/>
                      </a:pPr>
                      <a:r>
                        <a:rPr lang="en-IN" sz="1200"/>
                        <a:t>0.8378</a:t>
                      </a:r>
                    </a:p>
                  </a:txBody>
                  <a:tcPr marL="62162" marR="62162" marT="31081" marB="31081" anchor="ctr"/>
                </a:tc>
                <a:tc>
                  <a:txBody>
                    <a:bodyPr/>
                    <a:lstStyle/>
                    <a:p>
                      <a:pPr algn="l">
                        <a:buNone/>
                      </a:pPr>
                      <a:r>
                        <a:rPr lang="en-IN" sz="1200"/>
                        <a:t>0.6118</a:t>
                      </a:r>
                    </a:p>
                  </a:txBody>
                  <a:tcPr marL="62162" marR="62162" marT="31081" marB="31081" anchor="ctr"/>
                </a:tc>
                <a:tc>
                  <a:txBody>
                    <a:bodyPr/>
                    <a:lstStyle/>
                    <a:p>
                      <a:pPr algn="l">
                        <a:buNone/>
                      </a:pPr>
                      <a:r>
                        <a:rPr lang="en-IN" sz="1200"/>
                        <a:t>0.7072</a:t>
                      </a:r>
                    </a:p>
                  </a:txBody>
                  <a:tcPr marL="62162" marR="62162" marT="31081" marB="31081" anchor="ctr"/>
                </a:tc>
                <a:tc>
                  <a:txBody>
                    <a:bodyPr/>
                    <a:lstStyle/>
                    <a:p>
                      <a:pPr algn="l">
                        <a:buNone/>
                      </a:pPr>
                      <a:r>
                        <a:rPr lang="en-IN" sz="1200"/>
                        <a:t>0.8536</a:t>
                      </a:r>
                    </a:p>
                  </a:txBody>
                  <a:tcPr marL="62162" marR="62162" marT="31081" marB="31081" anchor="ctr"/>
                </a:tc>
                <a:extLst>
                  <a:ext uri="{0D108BD9-81ED-4DB2-BD59-A6C34878D82A}">
                    <a16:rowId xmlns:a16="http://schemas.microsoft.com/office/drawing/2014/main" val="2883957609"/>
                  </a:ext>
                </a:extLst>
              </a:tr>
              <a:tr h="0">
                <a:tc>
                  <a:txBody>
                    <a:bodyPr/>
                    <a:lstStyle/>
                    <a:p>
                      <a:pPr algn="l">
                        <a:buNone/>
                      </a:pPr>
                      <a:r>
                        <a:rPr lang="en-IN" sz="1200"/>
                        <a:t>LightGBM</a:t>
                      </a:r>
                    </a:p>
                  </a:txBody>
                  <a:tcPr marL="62162" marR="62162" marT="31081" marB="31081" anchor="ctr"/>
                </a:tc>
                <a:tc>
                  <a:txBody>
                    <a:bodyPr/>
                    <a:lstStyle/>
                    <a:p>
                      <a:pPr algn="l">
                        <a:buNone/>
                      </a:pPr>
                      <a:r>
                        <a:rPr lang="en-IN" sz="1200"/>
                        <a:t>0.8116</a:t>
                      </a:r>
                    </a:p>
                  </a:txBody>
                  <a:tcPr marL="62162" marR="62162" marT="31081" marB="31081" anchor="ctr"/>
                </a:tc>
                <a:tc>
                  <a:txBody>
                    <a:bodyPr/>
                    <a:lstStyle/>
                    <a:p>
                      <a:pPr algn="l">
                        <a:buNone/>
                      </a:pPr>
                      <a:r>
                        <a:rPr lang="en-IN" sz="1200"/>
                        <a:t>0.7983</a:t>
                      </a:r>
                    </a:p>
                  </a:txBody>
                  <a:tcPr marL="62162" marR="62162" marT="31081" marB="31081" anchor="ctr"/>
                </a:tc>
                <a:tc>
                  <a:txBody>
                    <a:bodyPr/>
                    <a:lstStyle/>
                    <a:p>
                      <a:pPr algn="l">
                        <a:buNone/>
                      </a:pPr>
                      <a:r>
                        <a:rPr lang="en-IN" sz="1200"/>
                        <a:t>0.6250</a:t>
                      </a:r>
                    </a:p>
                  </a:txBody>
                  <a:tcPr marL="62162" marR="62162" marT="31081" marB="31081" anchor="ctr"/>
                </a:tc>
                <a:tc>
                  <a:txBody>
                    <a:bodyPr/>
                    <a:lstStyle/>
                    <a:p>
                      <a:pPr algn="l">
                        <a:buNone/>
                      </a:pPr>
                      <a:r>
                        <a:rPr lang="en-IN" sz="1200"/>
                        <a:t>0.7011</a:t>
                      </a:r>
                    </a:p>
                  </a:txBody>
                  <a:tcPr marL="62162" marR="62162" marT="31081" marB="31081" anchor="ctr"/>
                </a:tc>
                <a:tc>
                  <a:txBody>
                    <a:bodyPr/>
                    <a:lstStyle/>
                    <a:p>
                      <a:pPr algn="l">
                        <a:buNone/>
                      </a:pPr>
                      <a:r>
                        <a:rPr lang="en-IN" sz="1200"/>
                        <a:t>0.8576</a:t>
                      </a:r>
                    </a:p>
                  </a:txBody>
                  <a:tcPr marL="62162" marR="62162" marT="31081" marB="31081" anchor="ctr"/>
                </a:tc>
                <a:extLst>
                  <a:ext uri="{0D108BD9-81ED-4DB2-BD59-A6C34878D82A}">
                    <a16:rowId xmlns:a16="http://schemas.microsoft.com/office/drawing/2014/main" val="3561323127"/>
                  </a:ext>
                </a:extLst>
              </a:tr>
              <a:tr h="0">
                <a:tc>
                  <a:txBody>
                    <a:bodyPr/>
                    <a:lstStyle/>
                    <a:p>
                      <a:pPr algn="l">
                        <a:buNone/>
                      </a:pPr>
                      <a:r>
                        <a:rPr lang="en-US" sz="1200" dirty="0"/>
                        <a:t>K</a:t>
                      </a:r>
                      <a:r>
                        <a:rPr lang="en-IN" sz="1200" dirty="0"/>
                        <a:t>NN</a:t>
                      </a:r>
                    </a:p>
                  </a:txBody>
                  <a:tcPr marL="62162" marR="62162" marT="31081" marB="31081" anchor="ctr"/>
                </a:tc>
                <a:tc>
                  <a:txBody>
                    <a:bodyPr/>
                    <a:lstStyle/>
                    <a:p>
                      <a:pPr algn="l">
                        <a:buNone/>
                      </a:pPr>
                      <a:r>
                        <a:rPr lang="en-IN" sz="1200"/>
                        <a:t>0.7093</a:t>
                      </a:r>
                    </a:p>
                  </a:txBody>
                  <a:tcPr marL="62162" marR="62162" marT="31081" marB="31081" anchor="ctr"/>
                </a:tc>
                <a:tc>
                  <a:txBody>
                    <a:bodyPr/>
                    <a:lstStyle/>
                    <a:p>
                      <a:pPr algn="l">
                        <a:buNone/>
                      </a:pPr>
                      <a:r>
                        <a:rPr lang="en-IN" sz="1200"/>
                        <a:t>0.6080</a:t>
                      </a:r>
                    </a:p>
                  </a:txBody>
                  <a:tcPr marL="62162" marR="62162" marT="31081" marB="31081" anchor="ctr"/>
                </a:tc>
                <a:tc>
                  <a:txBody>
                    <a:bodyPr/>
                    <a:lstStyle/>
                    <a:p>
                      <a:pPr algn="l">
                        <a:buNone/>
                      </a:pPr>
                      <a:r>
                        <a:rPr lang="en-IN" sz="1200"/>
                        <a:t>0.5000</a:t>
                      </a:r>
                    </a:p>
                  </a:txBody>
                  <a:tcPr marL="62162" marR="62162" marT="31081" marB="31081" anchor="ctr"/>
                </a:tc>
                <a:tc>
                  <a:txBody>
                    <a:bodyPr/>
                    <a:lstStyle/>
                    <a:p>
                      <a:pPr algn="l">
                        <a:buNone/>
                      </a:pPr>
                      <a:r>
                        <a:rPr lang="en-IN" sz="1200"/>
                        <a:t>0.5487</a:t>
                      </a:r>
                    </a:p>
                  </a:txBody>
                  <a:tcPr marL="62162" marR="62162" marT="31081" marB="31081" anchor="ctr"/>
                </a:tc>
                <a:tc>
                  <a:txBody>
                    <a:bodyPr/>
                    <a:lstStyle/>
                    <a:p>
                      <a:pPr algn="l">
                        <a:buNone/>
                      </a:pPr>
                      <a:r>
                        <a:rPr lang="en-IN" sz="1200"/>
                        <a:t>0.7396</a:t>
                      </a:r>
                    </a:p>
                  </a:txBody>
                  <a:tcPr marL="62162" marR="62162" marT="31081" marB="31081" anchor="ctr"/>
                </a:tc>
                <a:extLst>
                  <a:ext uri="{0D108BD9-81ED-4DB2-BD59-A6C34878D82A}">
                    <a16:rowId xmlns:a16="http://schemas.microsoft.com/office/drawing/2014/main" val="2605865085"/>
                  </a:ext>
                </a:extLst>
              </a:tr>
              <a:tr h="0">
                <a:tc>
                  <a:txBody>
                    <a:bodyPr/>
                    <a:lstStyle/>
                    <a:p>
                      <a:pPr algn="l">
                        <a:buNone/>
                      </a:pPr>
                      <a:r>
                        <a:rPr lang="en-IN" sz="1200" dirty="0"/>
                        <a:t>GNB</a:t>
                      </a:r>
                    </a:p>
                  </a:txBody>
                  <a:tcPr marL="62162" marR="62162" marT="31081" marB="31081" anchor="ctr"/>
                </a:tc>
                <a:tc>
                  <a:txBody>
                    <a:bodyPr/>
                    <a:lstStyle/>
                    <a:p>
                      <a:pPr algn="l">
                        <a:buNone/>
                      </a:pPr>
                      <a:r>
                        <a:rPr lang="en-IN" sz="1200"/>
                        <a:t>0.8047</a:t>
                      </a:r>
                    </a:p>
                  </a:txBody>
                  <a:tcPr marL="62162" marR="62162" marT="31081" marB="31081" anchor="ctr"/>
                </a:tc>
                <a:tc>
                  <a:txBody>
                    <a:bodyPr/>
                    <a:lstStyle/>
                    <a:p>
                      <a:pPr algn="l">
                        <a:buNone/>
                      </a:pPr>
                      <a:r>
                        <a:rPr lang="en-IN" sz="1200"/>
                        <a:t>0.7881</a:t>
                      </a:r>
                    </a:p>
                  </a:txBody>
                  <a:tcPr marL="62162" marR="62162" marT="31081" marB="31081" anchor="ctr"/>
                </a:tc>
                <a:tc>
                  <a:txBody>
                    <a:bodyPr/>
                    <a:lstStyle/>
                    <a:p>
                      <a:pPr algn="l">
                        <a:buNone/>
                      </a:pPr>
                      <a:r>
                        <a:rPr lang="en-IN" sz="1200"/>
                        <a:t>0.6118</a:t>
                      </a:r>
                    </a:p>
                  </a:txBody>
                  <a:tcPr marL="62162" marR="62162" marT="31081" marB="31081" anchor="ctr"/>
                </a:tc>
                <a:tc>
                  <a:txBody>
                    <a:bodyPr/>
                    <a:lstStyle/>
                    <a:p>
                      <a:pPr algn="l">
                        <a:buNone/>
                      </a:pPr>
                      <a:r>
                        <a:rPr lang="en-IN" sz="1200"/>
                        <a:t>0.6889</a:t>
                      </a:r>
                    </a:p>
                  </a:txBody>
                  <a:tcPr marL="62162" marR="62162" marT="31081" marB="31081" anchor="ctr"/>
                </a:tc>
                <a:tc>
                  <a:txBody>
                    <a:bodyPr/>
                    <a:lstStyle/>
                    <a:p>
                      <a:pPr algn="l">
                        <a:buNone/>
                      </a:pPr>
                      <a:r>
                        <a:rPr lang="en-IN" sz="1200"/>
                        <a:t>0.8498</a:t>
                      </a:r>
                    </a:p>
                  </a:txBody>
                  <a:tcPr marL="62162" marR="62162" marT="31081" marB="31081" anchor="ctr"/>
                </a:tc>
                <a:extLst>
                  <a:ext uri="{0D108BD9-81ED-4DB2-BD59-A6C34878D82A}">
                    <a16:rowId xmlns:a16="http://schemas.microsoft.com/office/drawing/2014/main" val="1537500851"/>
                  </a:ext>
                </a:extLst>
              </a:tr>
              <a:tr h="0">
                <a:tc>
                  <a:txBody>
                    <a:bodyPr/>
                    <a:lstStyle/>
                    <a:p>
                      <a:pPr algn="l">
                        <a:buNone/>
                      </a:pPr>
                      <a:r>
                        <a:rPr lang="en-IN" sz="1200" dirty="0"/>
                        <a:t>MLP</a:t>
                      </a:r>
                    </a:p>
                  </a:txBody>
                  <a:tcPr marL="62162" marR="62162" marT="31081" marB="31081" anchor="ctr"/>
                </a:tc>
                <a:tc>
                  <a:txBody>
                    <a:bodyPr/>
                    <a:lstStyle/>
                    <a:p>
                      <a:pPr algn="l">
                        <a:buNone/>
                      </a:pPr>
                      <a:r>
                        <a:rPr lang="en-IN" sz="1200"/>
                        <a:t>0.7256</a:t>
                      </a:r>
                    </a:p>
                  </a:txBody>
                  <a:tcPr marL="62162" marR="62162" marT="31081" marB="31081" anchor="ctr"/>
                </a:tc>
                <a:tc>
                  <a:txBody>
                    <a:bodyPr/>
                    <a:lstStyle/>
                    <a:p>
                      <a:pPr algn="l">
                        <a:buNone/>
                      </a:pPr>
                      <a:r>
                        <a:rPr lang="en-IN" sz="1200"/>
                        <a:t>0.6214</a:t>
                      </a:r>
                    </a:p>
                  </a:txBody>
                  <a:tcPr marL="62162" marR="62162" marT="31081" marB="31081" anchor="ctr"/>
                </a:tc>
                <a:tc>
                  <a:txBody>
                    <a:bodyPr/>
                    <a:lstStyle/>
                    <a:p>
                      <a:pPr algn="l">
                        <a:buNone/>
                      </a:pPr>
                      <a:r>
                        <a:rPr lang="en-IN" sz="1200"/>
                        <a:t>0.5724</a:t>
                      </a:r>
                    </a:p>
                  </a:txBody>
                  <a:tcPr marL="62162" marR="62162" marT="31081" marB="31081" anchor="ctr"/>
                </a:tc>
                <a:tc>
                  <a:txBody>
                    <a:bodyPr/>
                    <a:lstStyle/>
                    <a:p>
                      <a:pPr algn="l">
                        <a:buNone/>
                      </a:pPr>
                      <a:r>
                        <a:rPr lang="en-IN" sz="1200"/>
                        <a:t>0.5959</a:t>
                      </a:r>
                    </a:p>
                  </a:txBody>
                  <a:tcPr marL="62162" marR="62162" marT="31081" marB="31081" anchor="ctr"/>
                </a:tc>
                <a:tc>
                  <a:txBody>
                    <a:bodyPr/>
                    <a:lstStyle/>
                    <a:p>
                      <a:pPr algn="l">
                        <a:buNone/>
                      </a:pPr>
                      <a:r>
                        <a:rPr lang="en-IN" sz="1200"/>
                        <a:t>0.7440</a:t>
                      </a:r>
                    </a:p>
                  </a:txBody>
                  <a:tcPr marL="62162" marR="62162" marT="31081" marB="31081" anchor="ctr"/>
                </a:tc>
                <a:extLst>
                  <a:ext uri="{0D108BD9-81ED-4DB2-BD59-A6C34878D82A}">
                    <a16:rowId xmlns:a16="http://schemas.microsoft.com/office/drawing/2014/main" val="2283890322"/>
                  </a:ext>
                </a:extLst>
              </a:tr>
              <a:tr h="0">
                <a:tc>
                  <a:txBody>
                    <a:bodyPr/>
                    <a:lstStyle/>
                    <a:p>
                      <a:pPr algn="l">
                        <a:buNone/>
                      </a:pPr>
                      <a:r>
                        <a:rPr lang="en-IN" sz="1200"/>
                        <a:t>AdaBoost</a:t>
                      </a:r>
                    </a:p>
                  </a:txBody>
                  <a:tcPr marL="62162" marR="62162" marT="31081" marB="31081" anchor="ctr"/>
                </a:tc>
                <a:tc>
                  <a:txBody>
                    <a:bodyPr/>
                    <a:lstStyle/>
                    <a:p>
                      <a:pPr algn="l">
                        <a:buNone/>
                      </a:pPr>
                      <a:r>
                        <a:rPr lang="en-IN" sz="1200"/>
                        <a:t>0.8140</a:t>
                      </a:r>
                    </a:p>
                  </a:txBody>
                  <a:tcPr marL="62162" marR="62162" marT="31081" marB="31081" anchor="ctr"/>
                </a:tc>
                <a:tc>
                  <a:txBody>
                    <a:bodyPr/>
                    <a:lstStyle/>
                    <a:p>
                      <a:pPr algn="l">
                        <a:buNone/>
                      </a:pPr>
                      <a:r>
                        <a:rPr lang="en-IN" sz="1200"/>
                        <a:t>0.8051</a:t>
                      </a:r>
                    </a:p>
                  </a:txBody>
                  <a:tcPr marL="62162" marR="62162" marT="31081" marB="31081" anchor="ctr"/>
                </a:tc>
                <a:tc>
                  <a:txBody>
                    <a:bodyPr/>
                    <a:lstStyle/>
                    <a:p>
                      <a:pPr algn="l">
                        <a:buNone/>
                      </a:pPr>
                      <a:r>
                        <a:rPr lang="en-IN" sz="1200"/>
                        <a:t>0.6250</a:t>
                      </a:r>
                    </a:p>
                  </a:txBody>
                  <a:tcPr marL="62162" marR="62162" marT="31081" marB="31081" anchor="ctr"/>
                </a:tc>
                <a:tc>
                  <a:txBody>
                    <a:bodyPr/>
                    <a:lstStyle/>
                    <a:p>
                      <a:pPr algn="l">
                        <a:buNone/>
                      </a:pPr>
                      <a:r>
                        <a:rPr lang="en-IN" sz="1200"/>
                        <a:t>0.7037</a:t>
                      </a:r>
                    </a:p>
                  </a:txBody>
                  <a:tcPr marL="62162" marR="62162" marT="31081" marB="31081" anchor="ctr"/>
                </a:tc>
                <a:tc>
                  <a:txBody>
                    <a:bodyPr/>
                    <a:lstStyle/>
                    <a:p>
                      <a:pPr algn="l">
                        <a:buNone/>
                      </a:pPr>
                      <a:r>
                        <a:rPr lang="en-IN" sz="1200"/>
                        <a:t>0.8758</a:t>
                      </a:r>
                    </a:p>
                  </a:txBody>
                  <a:tcPr marL="62162" marR="62162" marT="31081" marB="31081" anchor="ctr"/>
                </a:tc>
                <a:extLst>
                  <a:ext uri="{0D108BD9-81ED-4DB2-BD59-A6C34878D82A}">
                    <a16:rowId xmlns:a16="http://schemas.microsoft.com/office/drawing/2014/main" val="3222549111"/>
                  </a:ext>
                </a:extLst>
              </a:tr>
              <a:tr h="0">
                <a:tc>
                  <a:txBody>
                    <a:bodyPr/>
                    <a:lstStyle/>
                    <a:p>
                      <a:pPr algn="l">
                        <a:buNone/>
                      </a:pPr>
                      <a:r>
                        <a:rPr lang="en-IN" sz="1200"/>
                        <a:t>CatBoost</a:t>
                      </a:r>
                    </a:p>
                  </a:txBody>
                  <a:tcPr marL="62162" marR="62162" marT="31081" marB="31081" anchor="ctr"/>
                </a:tc>
                <a:tc>
                  <a:txBody>
                    <a:bodyPr/>
                    <a:lstStyle/>
                    <a:p>
                      <a:pPr algn="l">
                        <a:buNone/>
                      </a:pPr>
                      <a:r>
                        <a:rPr lang="en-IN" sz="1200"/>
                        <a:t>0.8372</a:t>
                      </a:r>
                    </a:p>
                  </a:txBody>
                  <a:tcPr marL="62162" marR="62162" marT="31081" marB="31081" anchor="ctr"/>
                </a:tc>
                <a:tc>
                  <a:txBody>
                    <a:bodyPr/>
                    <a:lstStyle/>
                    <a:p>
                      <a:pPr algn="l">
                        <a:buNone/>
                      </a:pPr>
                      <a:r>
                        <a:rPr lang="en-IN" sz="1200" dirty="0"/>
                        <a:t>0.8942</a:t>
                      </a:r>
                    </a:p>
                  </a:txBody>
                  <a:tcPr marL="62162" marR="62162" marT="31081" marB="31081" anchor="ctr"/>
                </a:tc>
                <a:tc>
                  <a:txBody>
                    <a:bodyPr/>
                    <a:lstStyle/>
                    <a:p>
                      <a:pPr algn="l">
                        <a:buNone/>
                      </a:pPr>
                      <a:r>
                        <a:rPr lang="en-IN" sz="1200"/>
                        <a:t>0.6118</a:t>
                      </a:r>
                    </a:p>
                  </a:txBody>
                  <a:tcPr marL="62162" marR="62162" marT="31081" marB="31081" anchor="ctr"/>
                </a:tc>
                <a:tc>
                  <a:txBody>
                    <a:bodyPr/>
                    <a:lstStyle/>
                    <a:p>
                      <a:pPr algn="l">
                        <a:buNone/>
                      </a:pPr>
                      <a:r>
                        <a:rPr lang="en-IN" sz="1200"/>
                        <a:t>0.7266</a:t>
                      </a:r>
                    </a:p>
                  </a:txBody>
                  <a:tcPr marL="62162" marR="62162" marT="31081" marB="31081" anchor="ctr"/>
                </a:tc>
                <a:tc>
                  <a:txBody>
                    <a:bodyPr/>
                    <a:lstStyle/>
                    <a:p>
                      <a:pPr algn="l">
                        <a:buNone/>
                      </a:pPr>
                      <a:r>
                        <a:rPr lang="en-IN" sz="1200" dirty="0"/>
                        <a:t>0.8786</a:t>
                      </a:r>
                    </a:p>
                  </a:txBody>
                  <a:tcPr marL="62162" marR="62162" marT="31081" marB="31081" anchor="ctr"/>
                </a:tc>
                <a:extLst>
                  <a:ext uri="{0D108BD9-81ED-4DB2-BD59-A6C34878D82A}">
                    <a16:rowId xmlns:a16="http://schemas.microsoft.com/office/drawing/2014/main" val="3526105400"/>
                  </a:ext>
                </a:extLst>
              </a:tr>
            </a:tbl>
          </a:graphicData>
        </a:graphic>
      </p:graphicFrame>
    </p:spTree>
    <p:extLst>
      <p:ext uri="{BB962C8B-B14F-4D97-AF65-F5344CB8AC3E}">
        <p14:creationId xmlns:p14="http://schemas.microsoft.com/office/powerpoint/2010/main" val="3144914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par>
                          <p:cTn id="28" fill="hold">
                            <p:stCondLst>
                              <p:cond delay="3000"/>
                            </p:stCondLst>
                            <p:childTnLst>
                              <p:par>
                                <p:cTn id="29" presetID="10" presetClass="entr" presetSubtype="0" fill="hold" grpId="0" nodeType="after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500"/>
                                        <p:tgtEl>
                                          <p:spTgt spid="14"/>
                                        </p:tgtEl>
                                      </p:cBhvr>
                                    </p:animEffect>
                                  </p:childTnLst>
                                </p:cTn>
                              </p:par>
                            </p:childTnLst>
                          </p:cTn>
                        </p:par>
                        <p:par>
                          <p:cTn id="32" fill="hold">
                            <p:stCondLst>
                              <p:cond delay="3500"/>
                            </p:stCondLst>
                            <p:childTnLst>
                              <p:par>
                                <p:cTn id="33" presetID="10" presetClass="entr" presetSubtype="0" fill="hold" nodeType="afterEffect">
                                  <p:stCondLst>
                                    <p:cond delay="0"/>
                                  </p:stCondLst>
                                  <p:childTnLst>
                                    <p:set>
                                      <p:cBhvr>
                                        <p:cTn id="34" dur="1" fill="hold">
                                          <p:stCondLst>
                                            <p:cond delay="0"/>
                                          </p:stCondLst>
                                        </p:cTn>
                                        <p:tgtEl>
                                          <p:spTgt spid="3"/>
                                        </p:tgtEl>
                                        <p:attrNameLst>
                                          <p:attrName>style.visibility</p:attrName>
                                        </p:attrNameLst>
                                      </p:cBhvr>
                                      <p:to>
                                        <p:strVal val="visible"/>
                                      </p:to>
                                    </p:set>
                                    <p:animEffect transition="in" filter="fade">
                                      <p:cBhvr>
                                        <p:cTn id="3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8" grpId="0"/>
      <p:bldP spid="9" grpId="0"/>
      <p:bldP spid="10" grpId="0"/>
      <p:bldP spid="13" grpId="0"/>
      <p:bldP spid="14"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a:extLst>
            <a:ext uri="{FF2B5EF4-FFF2-40B4-BE49-F238E27FC236}">
              <a16:creationId xmlns:a16="http://schemas.microsoft.com/office/drawing/2014/main" id="{23B22C18-19F4-61FF-0BCF-E0CD3ED9852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40AC2CB-2D35-5AF0-D2D0-1BA9AB85CB28}"/>
              </a:ext>
            </a:extLst>
          </p:cNvPr>
          <p:cNvSpPr txBox="1"/>
          <p:nvPr/>
        </p:nvSpPr>
        <p:spPr>
          <a:xfrm>
            <a:off x="625366" y="610748"/>
            <a:ext cx="7120758" cy="646331"/>
          </a:xfrm>
          <a:prstGeom prst="rect">
            <a:avLst/>
          </a:prstGeom>
          <a:noFill/>
        </p:spPr>
        <p:txBody>
          <a:bodyPr wrap="square">
            <a:spAutoFit/>
          </a:bodyPr>
          <a:lstStyle/>
          <a:p>
            <a:r>
              <a:rPr lang="en-IN" sz="3600" b="1" dirty="0">
                <a:solidFill>
                  <a:srgbClr val="0F172A"/>
                </a:solidFill>
              </a:rPr>
              <a:t>Best Model Selection</a:t>
            </a:r>
          </a:p>
        </p:txBody>
      </p:sp>
      <p:sp>
        <p:nvSpPr>
          <p:cNvPr id="6" name="TextBox 5">
            <a:extLst>
              <a:ext uri="{FF2B5EF4-FFF2-40B4-BE49-F238E27FC236}">
                <a16:creationId xmlns:a16="http://schemas.microsoft.com/office/drawing/2014/main" id="{DCFBA3AA-73E3-8BAE-9B6B-A7498B1C8526}"/>
              </a:ext>
            </a:extLst>
          </p:cNvPr>
          <p:cNvSpPr txBox="1"/>
          <p:nvPr/>
        </p:nvSpPr>
        <p:spPr>
          <a:xfrm>
            <a:off x="625366" y="1362550"/>
            <a:ext cx="5318232" cy="461665"/>
          </a:xfrm>
          <a:prstGeom prst="rect">
            <a:avLst/>
          </a:prstGeom>
          <a:noFill/>
        </p:spPr>
        <p:txBody>
          <a:bodyPr wrap="square">
            <a:spAutoFit/>
          </a:bodyPr>
          <a:lstStyle/>
          <a:p>
            <a:pPr>
              <a:spcBef>
                <a:spcPts val="600"/>
              </a:spcBef>
            </a:pPr>
            <a:r>
              <a:rPr lang="en-US" sz="2400" dirty="0">
                <a:solidFill>
                  <a:srgbClr val="0EA5A4"/>
                </a:solidFill>
              </a:rPr>
              <a:t>Section 1: Selection Criteria</a:t>
            </a:r>
          </a:p>
        </p:txBody>
      </p:sp>
      <p:sp>
        <p:nvSpPr>
          <p:cNvPr id="8" name="TextBox 7">
            <a:extLst>
              <a:ext uri="{FF2B5EF4-FFF2-40B4-BE49-F238E27FC236}">
                <a16:creationId xmlns:a16="http://schemas.microsoft.com/office/drawing/2014/main" id="{9F47D1AF-3B3F-8FED-5424-EA0702BCBC46}"/>
              </a:ext>
            </a:extLst>
          </p:cNvPr>
          <p:cNvSpPr txBox="1"/>
          <p:nvPr/>
        </p:nvSpPr>
        <p:spPr>
          <a:xfrm>
            <a:off x="625365" y="1824214"/>
            <a:ext cx="5318232" cy="1754326"/>
          </a:xfrm>
          <a:prstGeom prst="rect">
            <a:avLst/>
          </a:prstGeom>
          <a:noFill/>
        </p:spPr>
        <p:txBody>
          <a:bodyPr wrap="square">
            <a:spAutoFit/>
          </a:bodyPr>
          <a:lstStyle/>
          <a:p>
            <a:r>
              <a:rPr lang="en-US" b="1" dirty="0">
                <a:solidFill>
                  <a:srgbClr val="475569"/>
                </a:solidFill>
              </a:rPr>
              <a:t>Model Selection Criteria</a:t>
            </a:r>
          </a:p>
          <a:p>
            <a:pPr marL="285750" indent="-285750">
              <a:buFont typeface="Arial" panose="020B0604020202020204" pitchFamily="34" charset="0"/>
              <a:buChar char="•"/>
            </a:pPr>
            <a:r>
              <a:rPr lang="en-US" dirty="0">
                <a:solidFill>
                  <a:srgbClr val="475569"/>
                </a:solidFill>
              </a:rPr>
              <a:t>Consistent performance across Accuracy, Precision, Recall, and F1-score</a:t>
            </a:r>
          </a:p>
          <a:p>
            <a:pPr marL="285750" indent="-285750">
              <a:buFont typeface="Arial" panose="020B0604020202020204" pitchFamily="34" charset="0"/>
              <a:buChar char="•"/>
            </a:pPr>
            <a:r>
              <a:rPr lang="en-US" dirty="0">
                <a:solidFill>
                  <a:srgbClr val="475569"/>
                </a:solidFill>
              </a:rPr>
              <a:t>Strong generalization on unseen test data</a:t>
            </a:r>
          </a:p>
          <a:p>
            <a:pPr marL="285750" indent="-285750">
              <a:buFont typeface="Arial" panose="020B0604020202020204" pitchFamily="34" charset="0"/>
              <a:buChar char="•"/>
            </a:pPr>
            <a:r>
              <a:rPr lang="en-US" dirty="0">
                <a:solidFill>
                  <a:srgbClr val="475569"/>
                </a:solidFill>
              </a:rPr>
              <a:t>Robust handling of feature types and data distribution</a:t>
            </a:r>
          </a:p>
        </p:txBody>
      </p:sp>
      <p:sp>
        <p:nvSpPr>
          <p:cNvPr id="9" name="TextBox 8">
            <a:extLst>
              <a:ext uri="{FF2B5EF4-FFF2-40B4-BE49-F238E27FC236}">
                <a16:creationId xmlns:a16="http://schemas.microsoft.com/office/drawing/2014/main" id="{4F3E1F61-CC9E-256C-915C-286636DF2118}"/>
              </a:ext>
            </a:extLst>
          </p:cNvPr>
          <p:cNvSpPr txBox="1"/>
          <p:nvPr/>
        </p:nvSpPr>
        <p:spPr>
          <a:xfrm>
            <a:off x="625364" y="3578540"/>
            <a:ext cx="5381299" cy="461665"/>
          </a:xfrm>
          <a:prstGeom prst="rect">
            <a:avLst/>
          </a:prstGeom>
          <a:noFill/>
        </p:spPr>
        <p:txBody>
          <a:bodyPr wrap="square">
            <a:spAutoFit/>
          </a:bodyPr>
          <a:lstStyle/>
          <a:p>
            <a:pPr>
              <a:spcBef>
                <a:spcPts val="600"/>
              </a:spcBef>
            </a:pPr>
            <a:r>
              <a:rPr lang="en-US" sz="2400" dirty="0">
                <a:solidFill>
                  <a:srgbClr val="0EA5A4"/>
                </a:solidFill>
              </a:rPr>
              <a:t>Section 3: Practical Considerations</a:t>
            </a:r>
          </a:p>
        </p:txBody>
      </p:sp>
      <p:sp>
        <p:nvSpPr>
          <p:cNvPr id="10" name="TextBox 9">
            <a:extLst>
              <a:ext uri="{FF2B5EF4-FFF2-40B4-BE49-F238E27FC236}">
                <a16:creationId xmlns:a16="http://schemas.microsoft.com/office/drawing/2014/main" id="{74265F63-1E33-9373-75AD-0BB7004BBC36}"/>
              </a:ext>
            </a:extLst>
          </p:cNvPr>
          <p:cNvSpPr txBox="1"/>
          <p:nvPr/>
        </p:nvSpPr>
        <p:spPr>
          <a:xfrm>
            <a:off x="625364" y="4040204"/>
            <a:ext cx="5318233" cy="1708160"/>
          </a:xfrm>
          <a:prstGeom prst="rect">
            <a:avLst/>
          </a:prstGeom>
          <a:noFill/>
        </p:spPr>
        <p:txBody>
          <a:bodyPr wrap="square">
            <a:spAutoFit/>
          </a:bodyPr>
          <a:lstStyle/>
          <a:p>
            <a:pPr>
              <a:spcBef>
                <a:spcPts val="600"/>
              </a:spcBef>
            </a:pPr>
            <a:r>
              <a:rPr lang="en-US" b="1" dirty="0">
                <a:solidFill>
                  <a:srgbClr val="475569"/>
                </a:solidFill>
              </a:rPr>
              <a:t>Practical Considerations</a:t>
            </a:r>
          </a:p>
          <a:p>
            <a:pPr marL="285750" indent="-285750">
              <a:spcBef>
                <a:spcPts val="600"/>
              </a:spcBef>
              <a:buFont typeface="Arial" panose="020B0604020202020204" pitchFamily="34" charset="0"/>
              <a:buChar char="•"/>
            </a:pPr>
            <a:r>
              <a:rPr lang="en-US" dirty="0">
                <a:solidFill>
                  <a:srgbClr val="475569"/>
                </a:solidFill>
              </a:rPr>
              <a:t>Reduced need for extensive feature encoding</a:t>
            </a:r>
          </a:p>
          <a:p>
            <a:pPr marL="285750" indent="-285750">
              <a:spcBef>
                <a:spcPts val="600"/>
              </a:spcBef>
              <a:buFont typeface="Arial" panose="020B0604020202020204" pitchFamily="34" charset="0"/>
              <a:buChar char="•"/>
            </a:pPr>
            <a:r>
              <a:rPr lang="en-US" dirty="0">
                <a:solidFill>
                  <a:srgbClr val="475569"/>
                </a:solidFill>
              </a:rPr>
              <a:t>Lower risk of overfitting due to built-in regularization</a:t>
            </a:r>
          </a:p>
          <a:p>
            <a:pPr marL="285750" indent="-285750">
              <a:spcBef>
                <a:spcPts val="600"/>
              </a:spcBef>
              <a:buFont typeface="Arial" panose="020B0604020202020204" pitchFamily="34" charset="0"/>
              <a:buChar char="•"/>
            </a:pPr>
            <a:r>
              <a:rPr lang="en-US" dirty="0">
                <a:solidFill>
                  <a:srgbClr val="475569"/>
                </a:solidFill>
              </a:rPr>
              <a:t>Suitable for real-world tabular datasets</a:t>
            </a:r>
          </a:p>
        </p:txBody>
      </p:sp>
      <p:sp>
        <p:nvSpPr>
          <p:cNvPr id="13" name="TextBox 12">
            <a:extLst>
              <a:ext uri="{FF2B5EF4-FFF2-40B4-BE49-F238E27FC236}">
                <a16:creationId xmlns:a16="http://schemas.microsoft.com/office/drawing/2014/main" id="{17D40EB2-D948-6787-F086-421E88B38F83}"/>
              </a:ext>
            </a:extLst>
          </p:cNvPr>
          <p:cNvSpPr txBox="1"/>
          <p:nvPr/>
        </p:nvSpPr>
        <p:spPr>
          <a:xfrm>
            <a:off x="6248404" y="1363619"/>
            <a:ext cx="5318230" cy="461665"/>
          </a:xfrm>
          <a:prstGeom prst="rect">
            <a:avLst/>
          </a:prstGeom>
          <a:noFill/>
        </p:spPr>
        <p:txBody>
          <a:bodyPr wrap="square">
            <a:spAutoFit/>
          </a:bodyPr>
          <a:lstStyle/>
          <a:p>
            <a:pPr>
              <a:spcBef>
                <a:spcPts val="600"/>
              </a:spcBef>
            </a:pPr>
            <a:r>
              <a:rPr lang="en-US" sz="2400" dirty="0">
                <a:solidFill>
                  <a:srgbClr val="0EA5A4"/>
                </a:solidFill>
              </a:rPr>
              <a:t>Section 2: Selected Model</a:t>
            </a:r>
          </a:p>
        </p:txBody>
      </p:sp>
      <p:sp>
        <p:nvSpPr>
          <p:cNvPr id="14" name="TextBox 13">
            <a:extLst>
              <a:ext uri="{FF2B5EF4-FFF2-40B4-BE49-F238E27FC236}">
                <a16:creationId xmlns:a16="http://schemas.microsoft.com/office/drawing/2014/main" id="{8C9D3111-7006-A821-BA36-74547FD79B5B}"/>
              </a:ext>
            </a:extLst>
          </p:cNvPr>
          <p:cNvSpPr txBox="1"/>
          <p:nvPr/>
        </p:nvSpPr>
        <p:spPr>
          <a:xfrm>
            <a:off x="6248402" y="1824214"/>
            <a:ext cx="5318232" cy="2616101"/>
          </a:xfrm>
          <a:prstGeom prst="rect">
            <a:avLst/>
          </a:prstGeom>
          <a:noFill/>
        </p:spPr>
        <p:txBody>
          <a:bodyPr wrap="square">
            <a:spAutoFit/>
          </a:bodyPr>
          <a:lstStyle/>
          <a:p>
            <a:pPr>
              <a:spcBef>
                <a:spcPts val="600"/>
              </a:spcBef>
            </a:pPr>
            <a:r>
              <a:rPr lang="en-US" b="1" dirty="0">
                <a:solidFill>
                  <a:srgbClr val="475569"/>
                </a:solidFill>
              </a:rPr>
              <a:t>Selected Model: CatBoost Classifier</a:t>
            </a:r>
          </a:p>
          <a:p>
            <a:pPr>
              <a:spcBef>
                <a:spcPts val="600"/>
              </a:spcBef>
            </a:pPr>
            <a:r>
              <a:rPr lang="en-US" b="1" dirty="0">
                <a:solidFill>
                  <a:srgbClr val="475569"/>
                </a:solidFill>
              </a:rPr>
              <a:t>Reasons for Selection: </a:t>
            </a:r>
          </a:p>
          <a:p>
            <a:pPr marL="285750" indent="-285750">
              <a:spcBef>
                <a:spcPts val="600"/>
              </a:spcBef>
              <a:buFont typeface="Arial" panose="020B0604020202020204" pitchFamily="34" charset="0"/>
              <a:buChar char="•"/>
            </a:pPr>
            <a:r>
              <a:rPr lang="en-US" dirty="0">
                <a:solidFill>
                  <a:srgbClr val="475569"/>
                </a:solidFill>
              </a:rPr>
              <a:t>Achieved strong and consistent performance across evaluation metrics</a:t>
            </a:r>
          </a:p>
          <a:p>
            <a:pPr marL="285750" indent="-285750">
              <a:spcBef>
                <a:spcPts val="600"/>
              </a:spcBef>
              <a:buFont typeface="Arial" panose="020B0604020202020204" pitchFamily="34" charset="0"/>
              <a:buChar char="•"/>
            </a:pPr>
            <a:r>
              <a:rPr lang="en-US" dirty="0">
                <a:solidFill>
                  <a:srgbClr val="475569"/>
                </a:solidFill>
              </a:rPr>
              <a:t>Effectively handles categorical and numerical features</a:t>
            </a:r>
          </a:p>
          <a:p>
            <a:pPr marL="285750" indent="-285750">
              <a:spcBef>
                <a:spcPts val="600"/>
              </a:spcBef>
              <a:buFont typeface="Arial" panose="020B0604020202020204" pitchFamily="34" charset="0"/>
              <a:buChar char="•"/>
            </a:pPr>
            <a:r>
              <a:rPr lang="en-US" dirty="0">
                <a:solidFill>
                  <a:srgbClr val="475569"/>
                </a:solidFill>
              </a:rPr>
              <a:t>Demonstrated better generalization and stability compared to other models</a:t>
            </a:r>
          </a:p>
        </p:txBody>
      </p:sp>
      <p:sp>
        <p:nvSpPr>
          <p:cNvPr id="16" name="Rectangle 15">
            <a:extLst>
              <a:ext uri="{FF2B5EF4-FFF2-40B4-BE49-F238E27FC236}">
                <a16:creationId xmlns:a16="http://schemas.microsoft.com/office/drawing/2014/main" id="{DB779FAC-6519-1771-11B2-B80EAD40B252}"/>
              </a:ext>
            </a:extLst>
          </p:cNvPr>
          <p:cNvSpPr/>
          <p:nvPr/>
        </p:nvSpPr>
        <p:spPr>
          <a:xfrm>
            <a:off x="2351808" y="5748364"/>
            <a:ext cx="7488383" cy="825471"/>
          </a:xfrm>
          <a:prstGeom prst="rect">
            <a:avLst/>
          </a:prstGeom>
          <a:solidFill>
            <a:srgbClr val="E0F2FE"/>
          </a:solidFill>
          <a:ln>
            <a:solidFill>
              <a:srgbClr val="0EA5A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0F172A"/>
                </a:solidFill>
              </a:rPr>
              <a:t>The final model was selected based on balanced performance and generalization rather than a single evaluation metric.</a:t>
            </a:r>
            <a:endParaRPr lang="en-IN" dirty="0">
              <a:solidFill>
                <a:srgbClr val="0F172A"/>
              </a:solidFill>
            </a:endParaRPr>
          </a:p>
        </p:txBody>
      </p:sp>
    </p:spTree>
    <p:extLst>
      <p:ext uri="{BB962C8B-B14F-4D97-AF65-F5344CB8AC3E}">
        <p14:creationId xmlns:p14="http://schemas.microsoft.com/office/powerpoint/2010/main" val="444253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par>
                          <p:cTn id="28" fill="hold">
                            <p:stCondLst>
                              <p:cond delay="3000"/>
                            </p:stCondLst>
                            <p:childTnLst>
                              <p:par>
                                <p:cTn id="29" presetID="10" presetClass="entr" presetSubtype="0" fill="hold" grpId="0" nodeType="after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500"/>
                                        <p:tgtEl>
                                          <p:spTgt spid="14"/>
                                        </p:tgtEl>
                                      </p:cBhvr>
                                    </p:animEffect>
                                  </p:childTnLst>
                                </p:cTn>
                              </p:par>
                            </p:childTnLst>
                          </p:cTn>
                        </p:par>
                        <p:par>
                          <p:cTn id="32" fill="hold">
                            <p:stCondLst>
                              <p:cond delay="3500"/>
                            </p:stCondLst>
                            <p:childTnLst>
                              <p:par>
                                <p:cTn id="33" presetID="10" presetClass="entr" presetSubtype="0" fill="hold" grpId="0" nodeType="after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8" grpId="0"/>
      <p:bldP spid="9" grpId="0"/>
      <p:bldP spid="10" grpId="0"/>
      <p:bldP spid="13" grpId="0"/>
      <p:bldP spid="14" grpId="0"/>
      <p:bldP spid="1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a:extLst>
            <a:ext uri="{FF2B5EF4-FFF2-40B4-BE49-F238E27FC236}">
              <a16:creationId xmlns:a16="http://schemas.microsoft.com/office/drawing/2014/main" id="{78680960-4101-B848-7946-9FD95CBDE1E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D49ADDC-57FE-3926-320F-46FC32D8EAA0}"/>
              </a:ext>
            </a:extLst>
          </p:cNvPr>
          <p:cNvSpPr txBox="1"/>
          <p:nvPr/>
        </p:nvSpPr>
        <p:spPr>
          <a:xfrm>
            <a:off x="625366" y="610748"/>
            <a:ext cx="7120758" cy="646331"/>
          </a:xfrm>
          <a:prstGeom prst="rect">
            <a:avLst/>
          </a:prstGeom>
          <a:noFill/>
        </p:spPr>
        <p:txBody>
          <a:bodyPr wrap="square">
            <a:spAutoFit/>
          </a:bodyPr>
          <a:lstStyle/>
          <a:p>
            <a:r>
              <a:rPr lang="en-IN" sz="3600" b="1" dirty="0">
                <a:solidFill>
                  <a:srgbClr val="0F172A"/>
                </a:solidFill>
              </a:rPr>
              <a:t>CONCLUSION &amp; KEY TAKEAWAYS</a:t>
            </a:r>
          </a:p>
        </p:txBody>
      </p:sp>
      <p:sp>
        <p:nvSpPr>
          <p:cNvPr id="6" name="TextBox 5">
            <a:extLst>
              <a:ext uri="{FF2B5EF4-FFF2-40B4-BE49-F238E27FC236}">
                <a16:creationId xmlns:a16="http://schemas.microsoft.com/office/drawing/2014/main" id="{7B24703E-0115-7D8F-CAFA-F438284156A2}"/>
              </a:ext>
            </a:extLst>
          </p:cNvPr>
          <p:cNvSpPr txBox="1"/>
          <p:nvPr/>
        </p:nvSpPr>
        <p:spPr>
          <a:xfrm>
            <a:off x="625366" y="1362550"/>
            <a:ext cx="5318232" cy="461665"/>
          </a:xfrm>
          <a:prstGeom prst="rect">
            <a:avLst/>
          </a:prstGeom>
          <a:noFill/>
        </p:spPr>
        <p:txBody>
          <a:bodyPr wrap="square">
            <a:spAutoFit/>
          </a:bodyPr>
          <a:lstStyle/>
          <a:p>
            <a:pPr>
              <a:spcBef>
                <a:spcPts val="600"/>
              </a:spcBef>
            </a:pPr>
            <a:r>
              <a:rPr lang="en-US" sz="2400" dirty="0">
                <a:solidFill>
                  <a:srgbClr val="0EA5A4"/>
                </a:solidFill>
              </a:rPr>
              <a:t>Section 1: Project Summary</a:t>
            </a:r>
          </a:p>
        </p:txBody>
      </p:sp>
      <p:sp>
        <p:nvSpPr>
          <p:cNvPr id="8" name="TextBox 7">
            <a:extLst>
              <a:ext uri="{FF2B5EF4-FFF2-40B4-BE49-F238E27FC236}">
                <a16:creationId xmlns:a16="http://schemas.microsoft.com/office/drawing/2014/main" id="{68A8FC96-2B85-DE2C-0891-DD50030544AC}"/>
              </a:ext>
            </a:extLst>
          </p:cNvPr>
          <p:cNvSpPr txBox="1"/>
          <p:nvPr/>
        </p:nvSpPr>
        <p:spPr>
          <a:xfrm>
            <a:off x="625365" y="1824214"/>
            <a:ext cx="5318232" cy="2031325"/>
          </a:xfrm>
          <a:prstGeom prst="rect">
            <a:avLst/>
          </a:prstGeom>
          <a:noFill/>
        </p:spPr>
        <p:txBody>
          <a:bodyPr wrap="square">
            <a:spAutoFit/>
          </a:bodyPr>
          <a:lstStyle/>
          <a:p>
            <a:pPr marL="285750" indent="-285750">
              <a:buFont typeface="Arial" panose="020B0604020202020204" pitchFamily="34" charset="0"/>
              <a:buChar char="•"/>
            </a:pPr>
            <a:r>
              <a:rPr lang="en-US" dirty="0">
                <a:solidFill>
                  <a:srgbClr val="475569"/>
                </a:solidFill>
              </a:rPr>
              <a:t>Successfully framed Alzheimer’s diagnosis as a supervised machine learning classification problem</a:t>
            </a:r>
          </a:p>
          <a:p>
            <a:pPr marL="285750" indent="-285750">
              <a:buFont typeface="Arial" panose="020B0604020202020204" pitchFamily="34" charset="0"/>
              <a:buChar char="•"/>
            </a:pPr>
            <a:r>
              <a:rPr lang="en-US" dirty="0">
                <a:solidFill>
                  <a:srgbClr val="475569"/>
                </a:solidFill>
              </a:rPr>
              <a:t>Performed end-to-end ML workflow, including EDA, preprocessing, modeling, and evaluation</a:t>
            </a:r>
          </a:p>
          <a:p>
            <a:pPr marL="285750" indent="-285750">
              <a:buFont typeface="Arial" panose="020B0604020202020204" pitchFamily="34" charset="0"/>
              <a:buChar char="•"/>
            </a:pPr>
            <a:r>
              <a:rPr lang="en-US" dirty="0">
                <a:solidFill>
                  <a:srgbClr val="475569"/>
                </a:solidFill>
              </a:rPr>
              <a:t>Compared multiple machine learning models using fair and consistent evaluation metrics</a:t>
            </a:r>
          </a:p>
        </p:txBody>
      </p:sp>
      <p:sp>
        <p:nvSpPr>
          <p:cNvPr id="9" name="TextBox 8">
            <a:extLst>
              <a:ext uri="{FF2B5EF4-FFF2-40B4-BE49-F238E27FC236}">
                <a16:creationId xmlns:a16="http://schemas.microsoft.com/office/drawing/2014/main" id="{ADEF2F0C-76C9-011B-DB04-E3E494505486}"/>
              </a:ext>
            </a:extLst>
          </p:cNvPr>
          <p:cNvSpPr txBox="1"/>
          <p:nvPr/>
        </p:nvSpPr>
        <p:spPr>
          <a:xfrm>
            <a:off x="625364" y="3855539"/>
            <a:ext cx="5381299" cy="461665"/>
          </a:xfrm>
          <a:prstGeom prst="rect">
            <a:avLst/>
          </a:prstGeom>
          <a:noFill/>
        </p:spPr>
        <p:txBody>
          <a:bodyPr wrap="square">
            <a:spAutoFit/>
          </a:bodyPr>
          <a:lstStyle/>
          <a:p>
            <a:pPr>
              <a:spcBef>
                <a:spcPts val="600"/>
              </a:spcBef>
            </a:pPr>
            <a:r>
              <a:rPr lang="en-US" sz="2400" dirty="0">
                <a:solidFill>
                  <a:srgbClr val="0EA5A4"/>
                </a:solidFill>
              </a:rPr>
              <a:t>Section 3: Final Outcome</a:t>
            </a:r>
          </a:p>
        </p:txBody>
      </p:sp>
      <p:sp>
        <p:nvSpPr>
          <p:cNvPr id="10" name="TextBox 9">
            <a:extLst>
              <a:ext uri="{FF2B5EF4-FFF2-40B4-BE49-F238E27FC236}">
                <a16:creationId xmlns:a16="http://schemas.microsoft.com/office/drawing/2014/main" id="{B64978C5-2E24-0C23-B4AB-A11D80129E2E}"/>
              </a:ext>
            </a:extLst>
          </p:cNvPr>
          <p:cNvSpPr txBox="1"/>
          <p:nvPr/>
        </p:nvSpPr>
        <p:spPr>
          <a:xfrm>
            <a:off x="625364" y="4317203"/>
            <a:ext cx="10941270" cy="723275"/>
          </a:xfrm>
          <a:prstGeom prst="rect">
            <a:avLst/>
          </a:prstGeom>
          <a:noFill/>
        </p:spPr>
        <p:txBody>
          <a:bodyPr wrap="square">
            <a:spAutoFit/>
          </a:bodyPr>
          <a:lstStyle/>
          <a:p>
            <a:pPr marL="285750" indent="-285750">
              <a:spcBef>
                <a:spcPts val="600"/>
              </a:spcBef>
              <a:buFont typeface="Arial" panose="020B0604020202020204" pitchFamily="34" charset="0"/>
              <a:buChar char="•"/>
            </a:pPr>
            <a:r>
              <a:rPr lang="en-US" dirty="0">
                <a:solidFill>
                  <a:srgbClr val="475569"/>
                </a:solidFill>
              </a:rPr>
              <a:t>CatBoost emerged as the most suitable model based on overall performance and generalization</a:t>
            </a:r>
          </a:p>
          <a:p>
            <a:pPr marL="285750" indent="-285750">
              <a:spcBef>
                <a:spcPts val="600"/>
              </a:spcBef>
              <a:buFont typeface="Arial" panose="020B0604020202020204" pitchFamily="34" charset="0"/>
              <a:buChar char="•"/>
            </a:pPr>
            <a:r>
              <a:rPr lang="en-US" dirty="0">
                <a:solidFill>
                  <a:srgbClr val="475569"/>
                </a:solidFill>
              </a:rPr>
              <a:t>The final model demonstrates the practical applicability of machine learning to real-world datasets</a:t>
            </a:r>
          </a:p>
        </p:txBody>
      </p:sp>
      <p:sp>
        <p:nvSpPr>
          <p:cNvPr id="13" name="TextBox 12">
            <a:extLst>
              <a:ext uri="{FF2B5EF4-FFF2-40B4-BE49-F238E27FC236}">
                <a16:creationId xmlns:a16="http://schemas.microsoft.com/office/drawing/2014/main" id="{ECCD0D09-C087-E279-FEFC-AE747A79FB98}"/>
              </a:ext>
            </a:extLst>
          </p:cNvPr>
          <p:cNvSpPr txBox="1"/>
          <p:nvPr/>
        </p:nvSpPr>
        <p:spPr>
          <a:xfrm>
            <a:off x="6248404" y="1363619"/>
            <a:ext cx="5318230" cy="461665"/>
          </a:xfrm>
          <a:prstGeom prst="rect">
            <a:avLst/>
          </a:prstGeom>
          <a:noFill/>
        </p:spPr>
        <p:txBody>
          <a:bodyPr wrap="square">
            <a:spAutoFit/>
          </a:bodyPr>
          <a:lstStyle/>
          <a:p>
            <a:pPr>
              <a:spcBef>
                <a:spcPts val="600"/>
              </a:spcBef>
            </a:pPr>
            <a:r>
              <a:rPr lang="en-US" sz="2400" dirty="0">
                <a:solidFill>
                  <a:srgbClr val="0EA5A4"/>
                </a:solidFill>
              </a:rPr>
              <a:t>Section 2: Key Takeaways</a:t>
            </a:r>
          </a:p>
        </p:txBody>
      </p:sp>
      <p:sp>
        <p:nvSpPr>
          <p:cNvPr id="14" name="TextBox 13">
            <a:extLst>
              <a:ext uri="{FF2B5EF4-FFF2-40B4-BE49-F238E27FC236}">
                <a16:creationId xmlns:a16="http://schemas.microsoft.com/office/drawing/2014/main" id="{DED34DA9-4C20-46BB-B74F-36A136706693}"/>
              </a:ext>
            </a:extLst>
          </p:cNvPr>
          <p:cNvSpPr txBox="1"/>
          <p:nvPr/>
        </p:nvSpPr>
        <p:spPr>
          <a:xfrm>
            <a:off x="6248402" y="1824214"/>
            <a:ext cx="5318232" cy="1908215"/>
          </a:xfrm>
          <a:prstGeom prst="rect">
            <a:avLst/>
          </a:prstGeom>
          <a:noFill/>
        </p:spPr>
        <p:txBody>
          <a:bodyPr wrap="square">
            <a:spAutoFit/>
          </a:bodyPr>
          <a:lstStyle/>
          <a:p>
            <a:pPr marL="285750" indent="-285750">
              <a:spcBef>
                <a:spcPts val="600"/>
              </a:spcBef>
              <a:buFont typeface="Arial" panose="020B0604020202020204" pitchFamily="34" charset="0"/>
              <a:buChar char="•"/>
            </a:pPr>
            <a:r>
              <a:rPr lang="en-US" dirty="0">
                <a:solidFill>
                  <a:srgbClr val="475569"/>
                </a:solidFill>
              </a:rPr>
              <a:t>Exploratory Data Analysis provided critical insights into feature behavior and relationships</a:t>
            </a:r>
          </a:p>
          <a:p>
            <a:pPr marL="285750" indent="-285750">
              <a:spcBef>
                <a:spcPts val="600"/>
              </a:spcBef>
              <a:buFont typeface="Arial" panose="020B0604020202020204" pitchFamily="34" charset="0"/>
              <a:buChar char="•"/>
            </a:pPr>
            <a:r>
              <a:rPr lang="en-US" dirty="0">
                <a:solidFill>
                  <a:srgbClr val="475569"/>
                </a:solidFill>
              </a:rPr>
              <a:t>Using multiple evaluation metrics ensured balanced and unbiased model assessment</a:t>
            </a:r>
          </a:p>
          <a:p>
            <a:pPr marL="285750" indent="-285750">
              <a:spcBef>
                <a:spcPts val="600"/>
              </a:spcBef>
              <a:buFont typeface="Arial" panose="020B0604020202020204" pitchFamily="34" charset="0"/>
              <a:buChar char="•"/>
            </a:pPr>
            <a:r>
              <a:rPr lang="en-US" dirty="0">
                <a:solidFill>
                  <a:srgbClr val="475569"/>
                </a:solidFill>
              </a:rPr>
              <a:t>Ensemble and boosting methods demonstrated strong performance on structured tabular data</a:t>
            </a:r>
          </a:p>
        </p:txBody>
      </p:sp>
      <p:sp>
        <p:nvSpPr>
          <p:cNvPr id="16" name="Rectangle 15">
            <a:extLst>
              <a:ext uri="{FF2B5EF4-FFF2-40B4-BE49-F238E27FC236}">
                <a16:creationId xmlns:a16="http://schemas.microsoft.com/office/drawing/2014/main" id="{D82CDBE2-BAD1-AB23-D35F-442DD974C249}"/>
              </a:ext>
            </a:extLst>
          </p:cNvPr>
          <p:cNvSpPr/>
          <p:nvPr/>
        </p:nvSpPr>
        <p:spPr>
          <a:xfrm>
            <a:off x="2351807" y="5429347"/>
            <a:ext cx="7488383" cy="825471"/>
          </a:xfrm>
          <a:prstGeom prst="rect">
            <a:avLst/>
          </a:prstGeom>
          <a:solidFill>
            <a:srgbClr val="E0F2FE"/>
          </a:solidFill>
          <a:ln>
            <a:solidFill>
              <a:srgbClr val="0EA5A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0F172A"/>
                </a:solidFill>
              </a:rPr>
              <a:t>This project highlights the importance of data understanding, fair evaluation, and informed model selection in machine learning workflows.</a:t>
            </a:r>
            <a:endParaRPr lang="en-IN" dirty="0">
              <a:solidFill>
                <a:srgbClr val="0F172A"/>
              </a:solidFill>
            </a:endParaRPr>
          </a:p>
        </p:txBody>
      </p:sp>
    </p:spTree>
    <p:extLst>
      <p:ext uri="{BB962C8B-B14F-4D97-AF65-F5344CB8AC3E}">
        <p14:creationId xmlns:p14="http://schemas.microsoft.com/office/powerpoint/2010/main" val="2676730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par>
                          <p:cTn id="28" fill="hold">
                            <p:stCondLst>
                              <p:cond delay="3000"/>
                            </p:stCondLst>
                            <p:childTnLst>
                              <p:par>
                                <p:cTn id="29" presetID="10" presetClass="entr" presetSubtype="0" fill="hold" grpId="0" nodeType="after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500"/>
                                        <p:tgtEl>
                                          <p:spTgt spid="14"/>
                                        </p:tgtEl>
                                      </p:cBhvr>
                                    </p:animEffect>
                                  </p:childTnLst>
                                </p:cTn>
                              </p:par>
                            </p:childTnLst>
                          </p:cTn>
                        </p:par>
                        <p:par>
                          <p:cTn id="32" fill="hold">
                            <p:stCondLst>
                              <p:cond delay="3500"/>
                            </p:stCondLst>
                            <p:childTnLst>
                              <p:par>
                                <p:cTn id="33" presetID="10" presetClass="entr" presetSubtype="0" fill="hold" grpId="0" nodeType="after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8" grpId="0"/>
      <p:bldP spid="9" grpId="0"/>
      <p:bldP spid="10" grpId="0"/>
      <p:bldP spid="13" grpId="0"/>
      <p:bldP spid="14" grpId="0"/>
      <p:bldP spid="16"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307</TotalTime>
  <Words>2236</Words>
  <Application>Microsoft Office PowerPoint</Application>
  <PresentationFormat>Widescreen</PresentationFormat>
  <Paragraphs>290</Paragraphs>
  <Slides>15</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Aptos</vt:lpstr>
      <vt:lpstr>Aptos Display</vt:lpstr>
      <vt:lpstr>Arial</vt:lpstr>
      <vt:lpstr>Segoe UI Black</vt:lpstr>
      <vt:lpstr>Segoe UI Light</vt:lpstr>
      <vt:lpstr>Office Theme</vt:lpstr>
      <vt:lpstr>Alzheimer’s Disease Classification Using Machine Learning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Dinesh Padhan</dc:creator>
  <cp:lastModifiedBy>Dinesh Padhan</cp:lastModifiedBy>
  <cp:revision>2</cp:revision>
  <dcterms:created xsi:type="dcterms:W3CDTF">2025-12-29T16:53:52Z</dcterms:created>
  <dcterms:modified xsi:type="dcterms:W3CDTF">2025-12-29T22:01:08Z</dcterms:modified>
</cp:coreProperties>
</file>